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0302" autoAdjust="0"/>
  </p:normalViewPr>
  <p:slideViewPr>
    <p:cSldViewPr snapToGrid="0" snapToObjects="1">
      <p:cViewPr varScale="1">
        <p:scale>
          <a:sx n="58" d="100"/>
          <a:sy n="58" d="100"/>
        </p:scale>
        <p:origin x="1368" y="-3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24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참가한 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코딩잉어단의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팀장 이태영입니다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만든 서비스는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Research Thread Agent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연구를 하다 보면 매일같이 새 논문과 모델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코드가 쏟아집니다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문제는 그 양이 너무 많아서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정작 내가 지금 읽어야 할 흐름이 무엇인지 찾기가 점점 어려워진다는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흩어진 연구 정보 속에서 내가 따라가야 할 연구 흐름을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대신 찾아주는 리서치 큐레이션 앱을 만들었습니다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팀은 단순히 기능만 만든 게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오픈소스 프로젝트로 운영하는 데 초점을 맞췄습니다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저장소 방향을 정하는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Maintainer,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기능을 구현하는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Contributor,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문서를 책임지는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Docs,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로그와 인간 검증을 담당하는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AI·Automation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네 가지 역할로 나눠 협업했습니다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 Thread Agent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arXiv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Semantic Scholar, Hugging Face, GitHub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곳의 데이터를 기반으로 동작합니다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논문뿐 아니라 모델과 코드 저장소까지 한 흐름으로 묶는다는 점이 특징입니다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데이터를 가지고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 탐색부터 개인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알림까지 모두 여덟 가지 핵심 기능을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지금부터 이 여덟 가지를 빠르게 보여드리겠습니다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릴스는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재밌는 연구들을 논문 첫 페이지와 초록과 함께 빠르게 넘겨 보는 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관심 가는 연구는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바로 한 줄로 요약해 줍니다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D0FA7-0B91-BB1F-F33F-9B3D3E7F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6D069-0574-1C0D-2D6D-4A2056B41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C3DF4-AA00-5C78-B286-A0592DE38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트렌드는 오늘 주목할 연구를 먼저 보여주는 첫 화면입니다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 올라온 논문과 모델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저장소를 카드로 빠르게 훑고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관심 흐름으로 바로 이동할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2C523-8F9A-614E-2D80-26E6C96EA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45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빠른탐색은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주제와 기간만 정하면 논문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저장소를 여러 출처에서 한 번에 묶어 검색해 주는 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 자료 수집의 첫 관문이라고 보시면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 학습경로는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주제가 처음 등장한 시점부터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시간 순으로 정리해 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시기마다 어떤 한계를 풀었는지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설명해 주는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 읽기 전에 보는 연구 지도입니다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 번째 인용계보는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인용 관계를 따라가며 그 주제에서 영향력이 큰 논문이 무엇인지 보여줍니다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 검색 결과가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논문이 어떤 논문 위에 쌓였는지를 알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여섯 번째 연구자 네트워크는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논문이 아니라 사람을 중심으로 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공저 관계와 공동 논문 수를 네트워크로 시각화해서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누구와 함께 연구하는지 협업 구조를 파악할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일곱 번째 내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관심 분야와 키워드를 저장하면 관련 논문이 개인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쌓이는 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인용 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토픽 태그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요약을 한 카드에서 확인할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여덟 번째 알림과 메일은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설정한 관심 분야에 새 논문이 감지되면 앱 알림이나 메일 브리핑으로 바로 알려 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놓치기 쉬운 연구 업데이트를 가장 먼저 챙겨 주는 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Research Thread Agent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연구자가 매일 반복하는 탐색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추적이라는 세 가지 일을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방금 보신 여덟 가지 기능을 통해 하나의 연구 흐름으로 묶어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툴이구요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논문 검색기 뿐만 연구 주제를 발견하고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이해하고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놓치지 않게 돕는 개인 연구 비서입니다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F10F-494D-2965-67BE-B1764607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B27B5-0F2C-5893-2A56-DF9FA74A8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348C9-BA9E-E046-42A8-C6CE1C237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저희가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MCP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서버도 개발을 하였는데요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이부분은 웹버전과 함께 실제 시연하는 모습을 보여드리도록 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130C2-EBD1-028C-E9DD-BB9EA0F86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7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yeongus2/research-thread-agen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7.jpg"/><Relationship Id="rId4" Type="http://schemas.openxmlformats.org/officeDocument/2006/relationships/image" Target="../media/image14.png"/><Relationship Id="rId9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8452729123655cddbf59270e0a8dee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714500" y="-1714500"/>
            <a:ext cx="5905195" cy="5905195"/>
          </a:xfrm>
          <a:prstGeom prst="rect">
            <a:avLst/>
          </a:prstGeom>
        </p:spPr>
      </p:pic>
      <p:pic>
        <p:nvPicPr>
          <p:cNvPr id="4" name="Image 1" descr="gen-dedup-48839661a6e11ebb9ebc7898a091101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10805" y="3619195"/>
            <a:ext cx="5905195" cy="5905195"/>
          </a:xfrm>
          <a:prstGeom prst="rect">
            <a:avLst/>
          </a:prstGeom>
        </p:spPr>
      </p:pic>
      <p:pic>
        <p:nvPicPr>
          <p:cNvPr id="5" name="Image 2" descr="gen-dedup-48a4e1cb696ad7de2046bf81a4a6995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53305" y="-1143000"/>
            <a:ext cx="3619195" cy="3619195"/>
          </a:xfrm>
          <a:prstGeom prst="rect">
            <a:avLst/>
          </a:prstGeom>
        </p:spPr>
      </p:pic>
      <p:pic>
        <p:nvPicPr>
          <p:cNvPr id="6" name="Image 3" descr="gen-dedup-c08cf942d6fda35490cb5cea95eddf90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09905" y="800100"/>
            <a:ext cx="10972800" cy="914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609905" y="1437670"/>
            <a:ext cx="4114800" cy="362102"/>
          </a:xfrm>
          <a:prstGeom prst="roundRect">
            <a:avLst>
              <a:gd name="adj" fmla="val 239235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2"/>
          <p:cNvSpPr/>
          <p:nvPr/>
        </p:nvSpPr>
        <p:spPr>
          <a:xfrm>
            <a:off x="609905" y="5333695"/>
            <a:ext cx="10992002" cy="1009498"/>
          </a:xfrm>
          <a:prstGeom prst="roundRect">
            <a:avLst>
              <a:gd name="adj" fmla="val 2734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4" descr="gen-dedup-57c8e8afca5021503525a27cfb2c0000.png"/>
          <p:cNvPicPr>
            <a:picLocks noChangeAspect="1"/>
          </p:cNvPicPr>
          <p:nvPr/>
        </p:nvPicPr>
        <p:blipFill>
          <a:blip r:embed="rId7"/>
          <a:srcRect t="-2056" b="-2056"/>
          <a:stretch/>
        </p:blipFill>
        <p:spPr>
          <a:xfrm>
            <a:off x="3161995" y="5562295"/>
            <a:ext cx="9144" cy="5330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819595" y="514807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E0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오픈소스 × AI 해커톤 </a:t>
            </a:r>
            <a:r>
              <a:rPr lang="en-US" sz="900" kern="0" spc="117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</a:t>
            </a:r>
            <a:r>
              <a:rPr lang="en-US" sz="900" kern="0" spc="117" dirty="0">
                <a:solidFill>
                  <a:srgbClr val="E0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트랙B 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609905" y="1437670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62" dirty="0">
                <a:solidFill>
                  <a:srgbClr val="C4B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 B · 자체 AI · 오픈소스 운영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609905" y="2247595"/>
            <a:ext cx="8572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89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 Thread Agent</a:t>
            </a:r>
            <a:endParaRPr lang="en-US" sz="6300" dirty="0"/>
          </a:p>
        </p:txBody>
      </p:sp>
      <p:sp>
        <p:nvSpPr>
          <p:cNvPr id="15" name="Text 8"/>
          <p:cNvSpPr txBox="1"/>
          <p:nvPr/>
        </p:nvSpPr>
        <p:spPr>
          <a:xfrm>
            <a:off x="733120" y="4017952"/>
            <a:ext cx="8572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  <a:hlinkClick r:id="rId8"/>
              </a:rPr>
              <a:t>https://github.com/hyeongus2/research-thread-agent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652017" y="3525830"/>
            <a:ext cx="9982116" cy="95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매일 쏟아지는 </a:t>
            </a:r>
            <a:r>
              <a:rPr lang="en-US" sz="1500" dirty="0" err="1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논문·모델·코드</a:t>
            </a:r>
            <a:r>
              <a:rPr lang="en-US" sz="15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중에서</a:t>
            </a:r>
            <a:r>
              <a:rPr lang="en-US" sz="15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읽어야 할 연구 흐름</a:t>
            </a:r>
            <a:r>
              <a:rPr lang="en-US" sz="15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찾아주는 AI 리서치 큐레이션 앱 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895198" y="5544007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800" dirty="0"/>
          </a:p>
        </p:txBody>
      </p:sp>
      <p:sp>
        <p:nvSpPr>
          <p:cNvPr id="18" name="Text 11"/>
          <p:cNvSpPr txBox="1"/>
          <p:nvPr/>
        </p:nvSpPr>
        <p:spPr>
          <a:xfrm>
            <a:off x="895198" y="5790895"/>
            <a:ext cx="2095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3448202" y="5544007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MEMBERS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3448202" y="5790895"/>
            <a:ext cx="5906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이태영</a:t>
            </a:r>
            <a:r>
              <a:rPr lang="en-US" sz="900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(팀장)</a:t>
            </a:r>
            <a:r>
              <a:rPr lang="en-US" sz="12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이태권 · 심현성 · 김성민 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1142133" y="6515100"/>
            <a:ext cx="4789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8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12</a:t>
            </a:r>
            <a:endParaRPr lang="en-US" sz="800" dirty="0"/>
          </a:p>
        </p:txBody>
      </p:sp>
      <p:sp>
        <p:nvSpPr>
          <p:cNvPr id="21" name="Text 12"/>
          <p:cNvSpPr txBox="1"/>
          <p:nvPr/>
        </p:nvSpPr>
        <p:spPr>
          <a:xfrm>
            <a:off x="9471812" y="5544007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</a:rPr>
              <a:t>PRESENTER</a:t>
            </a:r>
            <a:endParaRPr lang="en-US" sz="800" dirty="0"/>
          </a:p>
        </p:txBody>
      </p:sp>
      <p:sp>
        <p:nvSpPr>
          <p:cNvPr id="22" name="Text 13"/>
          <p:cNvSpPr txBox="1"/>
          <p:nvPr/>
        </p:nvSpPr>
        <p:spPr>
          <a:xfrm>
            <a:off x="9467240" y="5752490"/>
            <a:ext cx="5906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67512" y="1164092"/>
            <a:ext cx="1218895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2" descr="gen-dedup-94fda15c136988642c001def8dea2783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09905" y="2294772"/>
            <a:ext cx="2590495" cy="2952598"/>
          </a:xfrm>
          <a:prstGeom prst="rect">
            <a:avLst/>
          </a:prstGeom>
        </p:spPr>
      </p:pic>
      <p:pic>
        <p:nvPicPr>
          <p:cNvPr id="7" name="Image 3" descr="gen-dedup-94fda15c136988642c001def8dea2783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3409798" y="2294772"/>
            <a:ext cx="2590495" cy="2952598"/>
          </a:xfrm>
          <a:prstGeom prst="rect">
            <a:avLst/>
          </a:prstGeom>
        </p:spPr>
      </p:pic>
      <p:pic>
        <p:nvPicPr>
          <p:cNvPr id="8" name="Image 4" descr="gen-dedup-94fda15c136988642c001def8dea2783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210605" y="2294772"/>
            <a:ext cx="2590495" cy="2952598"/>
          </a:xfrm>
          <a:prstGeom prst="rect">
            <a:avLst/>
          </a:prstGeom>
        </p:spPr>
      </p:pic>
      <p:pic>
        <p:nvPicPr>
          <p:cNvPr id="9" name="Image 5" descr="gen-dedup-8e575f9acdee713671c2472086a6d8df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9010498" y="2294772"/>
            <a:ext cx="2590495" cy="2952598"/>
          </a:xfrm>
          <a:prstGeom prst="rect">
            <a:avLst/>
          </a:prstGeom>
        </p:spPr>
      </p:pic>
      <p:pic>
        <p:nvPicPr>
          <p:cNvPr id="10" name="Image 6" descr="gen-dedup-f849c782f14111df94ff522acda5c953.png"/>
          <p:cNvPicPr>
            <a:picLocks noChangeAspect="1"/>
          </p:cNvPicPr>
          <p:nvPr/>
        </p:nvPicPr>
        <p:blipFill>
          <a:blip r:embed="rId6"/>
          <a:srcRect l="-2094" r="-2094"/>
          <a:stretch/>
        </p:blipFill>
        <p:spPr>
          <a:xfrm>
            <a:off x="838505" y="3304269"/>
            <a:ext cx="2115007" cy="9144"/>
          </a:xfrm>
          <a:prstGeom prst="rect">
            <a:avLst/>
          </a:prstGeom>
        </p:spPr>
      </p:pic>
      <p:pic>
        <p:nvPicPr>
          <p:cNvPr id="11" name="Image 7" descr="gen-dedup-f849c782f14111df94ff522acda5c953.png"/>
          <p:cNvPicPr>
            <a:picLocks noChangeAspect="1"/>
          </p:cNvPicPr>
          <p:nvPr/>
        </p:nvPicPr>
        <p:blipFill>
          <a:blip r:embed="rId6"/>
          <a:srcRect l="-2094" r="-2094"/>
          <a:stretch/>
        </p:blipFill>
        <p:spPr>
          <a:xfrm>
            <a:off x="3638398" y="3304269"/>
            <a:ext cx="2115007" cy="9144"/>
          </a:xfrm>
          <a:prstGeom prst="rect">
            <a:avLst/>
          </a:prstGeom>
        </p:spPr>
      </p:pic>
      <p:pic>
        <p:nvPicPr>
          <p:cNvPr id="12" name="Image 8" descr="gen-dedup-f849c782f14111df94ff522acda5c953.png"/>
          <p:cNvPicPr>
            <a:picLocks noChangeAspect="1"/>
          </p:cNvPicPr>
          <p:nvPr/>
        </p:nvPicPr>
        <p:blipFill>
          <a:blip r:embed="rId6"/>
          <a:srcRect l="-2094" r="-2094"/>
          <a:stretch/>
        </p:blipFill>
        <p:spPr>
          <a:xfrm>
            <a:off x="6439205" y="3304269"/>
            <a:ext cx="2115007" cy="9144"/>
          </a:xfrm>
          <a:prstGeom prst="rect">
            <a:avLst/>
          </a:prstGeom>
        </p:spPr>
      </p:pic>
      <p:pic>
        <p:nvPicPr>
          <p:cNvPr id="13" name="Image 9" descr="gen-dedup-d46149f1e55ca0b6f911e61e65726b8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201400" y="2446562"/>
            <a:ext cx="228600" cy="228600"/>
          </a:xfrm>
          <a:prstGeom prst="rect">
            <a:avLst/>
          </a:prstGeom>
        </p:spPr>
      </p:pic>
      <p:pic>
        <p:nvPicPr>
          <p:cNvPr id="14" name="Image 10" descr="gen-dedup-8dc792e6615c8cadb7a48e1a33b05293.png"/>
          <p:cNvPicPr>
            <a:picLocks noChangeAspect="1"/>
          </p:cNvPicPr>
          <p:nvPr/>
        </p:nvPicPr>
        <p:blipFill>
          <a:blip r:embed="rId8"/>
          <a:srcRect l="-2094" r="-2094"/>
          <a:stretch/>
        </p:blipFill>
        <p:spPr>
          <a:xfrm>
            <a:off x="9239098" y="3304269"/>
            <a:ext cx="2115007" cy="9144"/>
          </a:xfrm>
          <a:prstGeom prst="rect">
            <a:avLst/>
          </a:prstGeom>
        </p:spPr>
      </p:pic>
      <p:sp>
        <p:nvSpPr>
          <p:cNvPr id="16" name="Text 2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7" name="Text 3"/>
          <p:cNvSpPr txBox="1"/>
          <p:nvPr/>
        </p:nvSpPr>
        <p:spPr>
          <a:xfrm>
            <a:off x="8001000" y="362102"/>
            <a:ext cx="3581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트랙B · TEAM ROLES</a:t>
            </a:r>
            <a:endParaRPr lang="en-US" sz="900" dirty="0"/>
          </a:p>
        </p:txBody>
      </p:sp>
      <p:sp>
        <p:nvSpPr>
          <p:cNvPr id="18" name="Text 4"/>
          <p:cNvSpPr txBox="1"/>
          <p:nvPr/>
        </p:nvSpPr>
        <p:spPr>
          <a:xfrm>
            <a:off x="667512" y="1164092"/>
            <a:ext cx="12198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kern="0" spc="72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</a:t>
            </a:r>
            <a:r>
              <a:rPr lang="en-US" sz="900" b="1" kern="0" spc="72" dirty="0" err="1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900" dirty="0"/>
          </a:p>
        </p:txBody>
      </p:sp>
      <p:sp>
        <p:nvSpPr>
          <p:cNvPr id="21" name="Text 7"/>
          <p:cNvSpPr txBox="1"/>
          <p:nvPr/>
        </p:nvSpPr>
        <p:spPr>
          <a:xfrm>
            <a:off x="838505" y="2523372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01</a:t>
            </a:r>
            <a:endParaRPr lang="en-US" sz="900" dirty="0"/>
          </a:p>
        </p:txBody>
      </p:sp>
      <p:sp>
        <p:nvSpPr>
          <p:cNvPr id="22" name="Text 8"/>
          <p:cNvSpPr txBox="1"/>
          <p:nvPr/>
        </p:nvSpPr>
        <p:spPr>
          <a:xfrm>
            <a:off x="838505" y="2751972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9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Maintainer</a:t>
            </a:r>
            <a:endParaRPr lang="en-US" sz="1900" dirty="0"/>
          </a:p>
        </p:txBody>
      </p:sp>
      <p:sp>
        <p:nvSpPr>
          <p:cNvPr id="23" name="Text 9"/>
          <p:cNvSpPr txBox="1"/>
          <p:nvPr/>
        </p:nvSpPr>
        <p:spPr>
          <a:xfrm>
            <a:off x="838505" y="3418569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</a:t>
            </a:r>
            <a:endParaRPr lang="en-US" sz="800" dirty="0"/>
          </a:p>
        </p:txBody>
      </p:sp>
      <p:sp>
        <p:nvSpPr>
          <p:cNvPr id="24" name="Text 10"/>
          <p:cNvSpPr txBox="1"/>
          <p:nvPr/>
        </p:nvSpPr>
        <p:spPr>
          <a:xfrm>
            <a:off x="838505" y="371036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이태영</a:t>
            </a: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000" b="1" dirty="0" err="1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심현성</a:t>
            </a:r>
            <a:endParaRPr lang="en-US" sz="1000" dirty="0"/>
          </a:p>
        </p:txBody>
      </p:sp>
      <p:sp>
        <p:nvSpPr>
          <p:cNvPr id="25" name="Text 11"/>
          <p:cNvSpPr txBox="1"/>
          <p:nvPr/>
        </p:nvSpPr>
        <p:spPr>
          <a:xfrm>
            <a:off x="838505" y="4046762"/>
            <a:ext cx="21150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저장소 방향, 이슈 우선순위,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병합 기준을 정한다. 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3638398" y="2523372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02</a:t>
            </a:r>
            <a:endParaRPr lang="en-US" sz="900" dirty="0"/>
          </a:p>
        </p:txBody>
      </p:sp>
      <p:sp>
        <p:nvSpPr>
          <p:cNvPr id="27" name="Text 13"/>
          <p:cNvSpPr txBox="1"/>
          <p:nvPr/>
        </p:nvSpPr>
        <p:spPr>
          <a:xfrm>
            <a:off x="3638398" y="2751972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9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Contributor</a:t>
            </a:r>
            <a:endParaRPr lang="en-US" sz="1900" dirty="0"/>
          </a:p>
        </p:txBody>
      </p:sp>
      <p:sp>
        <p:nvSpPr>
          <p:cNvPr id="28" name="Text 14"/>
          <p:cNvSpPr txBox="1"/>
          <p:nvPr/>
        </p:nvSpPr>
        <p:spPr>
          <a:xfrm>
            <a:off x="3638398" y="3418569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</a:t>
            </a:r>
            <a:endParaRPr lang="en-US" sz="800" dirty="0"/>
          </a:p>
        </p:txBody>
      </p:sp>
      <p:sp>
        <p:nvSpPr>
          <p:cNvPr id="29" name="Text 15"/>
          <p:cNvSpPr txBox="1"/>
          <p:nvPr/>
        </p:nvSpPr>
        <p:spPr>
          <a:xfrm>
            <a:off x="3638398" y="371036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이태영</a:t>
            </a: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000" b="1" dirty="0" err="1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심현성</a:t>
            </a:r>
            <a:r>
              <a:rPr lang="en-US" altLang="ko-KR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000" b="1" dirty="0" err="1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이태권</a:t>
            </a:r>
            <a:endParaRPr lang="en-US" sz="1000" dirty="0"/>
          </a:p>
        </p:txBody>
      </p:sp>
      <p:sp>
        <p:nvSpPr>
          <p:cNvPr id="30" name="Text 16"/>
          <p:cNvSpPr txBox="1"/>
          <p:nvPr/>
        </p:nvSpPr>
        <p:spPr>
          <a:xfrm>
            <a:off x="3638398" y="4046762"/>
            <a:ext cx="21150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기능 구현, 버그 수정, 테스트 추가,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기여를 담당한다. </a:t>
            </a:r>
            <a:endParaRPr lang="en-US" sz="1000" dirty="0"/>
          </a:p>
        </p:txBody>
      </p:sp>
      <p:sp>
        <p:nvSpPr>
          <p:cNvPr id="31" name="Text 17"/>
          <p:cNvSpPr txBox="1"/>
          <p:nvPr/>
        </p:nvSpPr>
        <p:spPr>
          <a:xfrm>
            <a:off x="6439205" y="2523372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03</a:t>
            </a:r>
            <a:endParaRPr lang="en-US" sz="900" dirty="0"/>
          </a:p>
        </p:txBody>
      </p:sp>
      <p:sp>
        <p:nvSpPr>
          <p:cNvPr id="32" name="Text 18"/>
          <p:cNvSpPr txBox="1"/>
          <p:nvPr/>
        </p:nvSpPr>
        <p:spPr>
          <a:xfrm>
            <a:off x="6439205" y="2751972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9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</a:t>
            </a:r>
            <a:endParaRPr lang="en-US" sz="1900" dirty="0"/>
          </a:p>
        </p:txBody>
      </p:sp>
      <p:sp>
        <p:nvSpPr>
          <p:cNvPr id="33" name="Text 19"/>
          <p:cNvSpPr txBox="1"/>
          <p:nvPr/>
        </p:nvSpPr>
        <p:spPr>
          <a:xfrm>
            <a:off x="6439205" y="3418569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</a:t>
            </a:r>
            <a:endParaRPr lang="en-US" sz="800" dirty="0"/>
          </a:p>
        </p:txBody>
      </p:sp>
      <p:sp>
        <p:nvSpPr>
          <p:cNvPr id="34" name="Text 20"/>
          <p:cNvSpPr txBox="1"/>
          <p:nvPr/>
        </p:nvSpPr>
        <p:spPr>
          <a:xfrm>
            <a:off x="6439205" y="371036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이태영</a:t>
            </a:r>
            <a:r>
              <a:rPr lang="en-US" altLang="ko-KR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ko-KR" alt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b="1" dirty="0" err="1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심현성</a:t>
            </a: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이태권 · 김성민</a:t>
            </a:r>
            <a:endParaRPr lang="en-US" sz="1000" dirty="0"/>
          </a:p>
        </p:txBody>
      </p:sp>
      <p:sp>
        <p:nvSpPr>
          <p:cNvPr id="35" name="Text 21"/>
          <p:cNvSpPr txBox="1"/>
          <p:nvPr/>
        </p:nvSpPr>
        <p:spPr>
          <a:xfrm>
            <a:off x="6439205" y="4046762"/>
            <a:ext cx="21150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README · CONTRIBUTING ·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튜토리얼 · 발표 자료를 책임진다. </a:t>
            </a:r>
            <a:endParaRPr lang="en-US" sz="1000" dirty="0"/>
          </a:p>
        </p:txBody>
      </p:sp>
      <p:sp>
        <p:nvSpPr>
          <p:cNvPr id="36" name="Text 22"/>
          <p:cNvSpPr txBox="1"/>
          <p:nvPr/>
        </p:nvSpPr>
        <p:spPr>
          <a:xfrm>
            <a:off x="11201400" y="244656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</a:t>
            </a:r>
            <a:endParaRPr lang="en-US" sz="800" dirty="0"/>
          </a:p>
        </p:txBody>
      </p:sp>
      <p:sp>
        <p:nvSpPr>
          <p:cNvPr id="37" name="Text 23"/>
          <p:cNvSpPr txBox="1"/>
          <p:nvPr/>
        </p:nvSpPr>
        <p:spPr>
          <a:xfrm>
            <a:off x="9239098" y="2523372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04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9239098" y="2751972"/>
            <a:ext cx="23216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9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Automation</a:t>
            </a:r>
            <a:endParaRPr lang="en-US" sz="1900" dirty="0"/>
          </a:p>
        </p:txBody>
      </p:sp>
      <p:sp>
        <p:nvSpPr>
          <p:cNvPr id="39" name="Text 25"/>
          <p:cNvSpPr txBox="1"/>
          <p:nvPr/>
        </p:nvSpPr>
        <p:spPr>
          <a:xfrm>
            <a:off x="9239098" y="3418569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</a:t>
            </a:r>
            <a:r>
              <a:rPr lang="ko-KR" altLang="en-US" sz="800" b="1" kern="0" spc="135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</a:t>
            </a:r>
            <a:endParaRPr lang="en-US" sz="800" dirty="0"/>
          </a:p>
        </p:txBody>
      </p:sp>
      <p:sp>
        <p:nvSpPr>
          <p:cNvPr id="40" name="Text 26"/>
          <p:cNvSpPr txBox="1"/>
          <p:nvPr/>
        </p:nvSpPr>
        <p:spPr>
          <a:xfrm>
            <a:off x="9239098" y="371036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이태영</a:t>
            </a:r>
            <a:r>
              <a:rPr lang="en-US" altLang="ko-KR" sz="10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000" b="1" dirty="0" err="1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심현성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9239098" y="4046762"/>
            <a:ext cx="21150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12E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사용 로그, 자동화,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12E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 검증 체크리스트를 책임진다. 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44" name="Text 30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12</a:t>
            </a:r>
            <a:endParaRPr lang="en-US" sz="800" dirty="0"/>
          </a:p>
        </p:txBody>
      </p:sp>
      <p:pic>
        <p:nvPicPr>
          <p:cNvPr id="42" name="Image 4" descr="gen-dedup-94fda15c136988642c001def8dea2783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9010231" y="2294772"/>
            <a:ext cx="2610879" cy="2952598"/>
          </a:xfrm>
          <a:prstGeom prst="rect">
            <a:avLst/>
          </a:prstGeom>
        </p:spPr>
      </p:pic>
      <p:pic>
        <p:nvPicPr>
          <p:cNvPr id="48" name="Image 10" descr="gen-dedup-8dc792e6615c8cadb7a48e1a33b05293.png"/>
          <p:cNvPicPr>
            <a:picLocks noChangeAspect="1"/>
          </p:cNvPicPr>
          <p:nvPr/>
        </p:nvPicPr>
        <p:blipFill>
          <a:blip r:embed="rId8"/>
          <a:srcRect l="-2094" r="-2094"/>
          <a:stretch/>
        </p:blipFill>
        <p:spPr>
          <a:xfrm>
            <a:off x="9203436" y="3316130"/>
            <a:ext cx="2115007" cy="9144"/>
          </a:xfrm>
          <a:prstGeom prst="rect">
            <a:avLst/>
          </a:prstGeom>
        </p:spPr>
      </p:pic>
      <p:sp>
        <p:nvSpPr>
          <p:cNvPr id="50" name="Text 23"/>
          <p:cNvSpPr txBox="1"/>
          <p:nvPr/>
        </p:nvSpPr>
        <p:spPr>
          <a:xfrm>
            <a:off x="9203436" y="2535233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62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04</a:t>
            </a:r>
          </a:p>
        </p:txBody>
      </p:sp>
      <p:sp>
        <p:nvSpPr>
          <p:cNvPr id="51" name="Text 24"/>
          <p:cNvSpPr txBox="1"/>
          <p:nvPr/>
        </p:nvSpPr>
        <p:spPr>
          <a:xfrm>
            <a:off x="9203436" y="2763833"/>
            <a:ext cx="23216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kern="0" spc="-39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Automation</a:t>
            </a:r>
          </a:p>
        </p:txBody>
      </p:sp>
      <p:sp>
        <p:nvSpPr>
          <p:cNvPr id="52" name="Text 25"/>
          <p:cNvSpPr txBox="1"/>
          <p:nvPr/>
        </p:nvSpPr>
        <p:spPr>
          <a:xfrm>
            <a:off x="9203436" y="3430430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3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</a:t>
            </a:r>
            <a:r>
              <a:rPr lang="ko-KR" altLang="en-US" sz="800" b="1" kern="0" spc="13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</a:t>
            </a:r>
            <a:endParaRPr lang="en-US" sz="800" b="1" kern="0" spc="135" dirty="0">
              <a:solidFill>
                <a:srgbClr val="94A3B8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3" name="Text 26"/>
          <p:cNvSpPr txBox="1"/>
          <p:nvPr/>
        </p:nvSpPr>
        <p:spPr>
          <a:xfrm>
            <a:off x="9203436" y="3722226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이태영</a:t>
            </a:r>
            <a:r>
              <a:rPr lang="en-US" altLang="ko-KR" sz="10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000" b="1" dirty="0" err="1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심현성</a:t>
            </a:r>
            <a:endParaRPr lang="en-US" sz="1000" dirty="0"/>
          </a:p>
        </p:txBody>
      </p:sp>
      <p:sp>
        <p:nvSpPr>
          <p:cNvPr id="54" name="Text 27"/>
          <p:cNvSpPr txBox="1"/>
          <p:nvPr/>
        </p:nvSpPr>
        <p:spPr>
          <a:xfrm>
            <a:off x="9203436" y="4058623"/>
            <a:ext cx="21150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사용 로그, 자동화,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 검증 체크리스트를 책임진다.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458407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4114800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2"/>
          <p:cNvSpPr/>
          <p:nvPr/>
        </p:nvSpPr>
        <p:spPr>
          <a:xfrm>
            <a:off x="1867205" y="4114800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3124505" y="4114800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4381805" y="4114800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609905" y="4629607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867205" y="4629607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5f0ba8bcc7986ce232fe3ea9facc8ec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6695" y="1028700"/>
            <a:ext cx="5124298" cy="500999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705295" y="1333195"/>
            <a:ext cx="4647895" cy="3238805"/>
          </a:xfrm>
          <a:prstGeom prst="roundRect">
            <a:avLst>
              <a:gd name="adj" fmla="val 199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gen-dedup-91ae2700a22c847d8b910a9ec6f52c11.jpg"/>
          <p:cNvPicPr>
            <a:picLocks noChangeAspect="1"/>
          </p:cNvPicPr>
          <p:nvPr/>
        </p:nvPicPr>
        <p:blipFill>
          <a:blip r:embed="rId5"/>
          <a:srcRect l="3317" r="3317"/>
          <a:stretch/>
        </p:blipFill>
        <p:spPr>
          <a:xfrm>
            <a:off x="6705295" y="1333195"/>
            <a:ext cx="4647895" cy="32388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8382305" y="362102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OVERVIEW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609905" y="10287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609905" y="1371600"/>
            <a:ext cx="5334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7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매일 쏟아지는 연구 흐름을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57" dirty="0">
                <a:solidFill>
                  <a:srgbClr val="6640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큐레이션</a:t>
            </a:r>
            <a:r>
              <a:rPr lang="en-US" sz="2800" b="1" kern="0" spc="-57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 드립니다 </a:t>
            </a:r>
            <a:endParaRPr lang="en-US" sz="2800" dirty="0"/>
          </a:p>
        </p:txBody>
      </p:sp>
      <p:sp>
        <p:nvSpPr>
          <p:cNvPr id="19" name="Text 12"/>
          <p:cNvSpPr txBox="1"/>
          <p:nvPr/>
        </p:nvSpPr>
        <p:spPr>
          <a:xfrm>
            <a:off x="609905" y="2857500"/>
            <a:ext cx="49533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 · Semantic Scholar · Hugging Face · GitHub</a:t>
            </a: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데이터를 기반으로,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트렌드 탐색부터 개인 피드와 알림까지 하나의 흐름으로 연결합니다. 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609905" y="3829507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CORE FEATURES</a:t>
            </a:r>
            <a:endParaRPr lang="en-US" sz="800" dirty="0"/>
          </a:p>
        </p:txBody>
      </p:sp>
      <p:sp>
        <p:nvSpPr>
          <p:cNvPr id="22" name="Text 15"/>
          <p:cNvSpPr txBox="1"/>
          <p:nvPr/>
        </p:nvSpPr>
        <p:spPr>
          <a:xfrm>
            <a:off x="1867205" y="4114800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endParaRPr lang="en-US" sz="900" b="1" dirty="0">
              <a:solidFill>
                <a:srgbClr val="4F46E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3124505" y="4114800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 err="1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빠른탐색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4381805" y="4114800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 err="1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학습경로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609905" y="4629607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 err="1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인용계보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867205" y="4629607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>
                <a:solidFill>
                  <a:srgbClr val="4F46E5"/>
                </a:solidFill>
                <a:latin typeface="Pretendard" pitchFamily="34" charset="0"/>
              </a:rPr>
              <a:t>연구 네트워크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609905" y="5467198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609905" y="573420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 · Semantic Scholar · Hugging Face · GitHub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6705295" y="4762195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 PREVIEW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6705295" y="5009998"/>
            <a:ext cx="46488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Every day, the papers worth reading.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6705295" y="5447995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트렌드부터 개인 피드, 알림까지 — 단일 흐름의 리서치 비서.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609905" y="6590995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66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123676" y="65909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12</a:t>
            </a:r>
            <a:endParaRPr lang="en-US" sz="800" dirty="0"/>
          </a:p>
        </p:txBody>
      </p:sp>
      <p:sp>
        <p:nvSpPr>
          <p:cNvPr id="37" name="Shape 1"/>
          <p:cNvSpPr/>
          <p:nvPr/>
        </p:nvSpPr>
        <p:spPr>
          <a:xfrm>
            <a:off x="3134106" y="4610404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6"/>
          <p:cNvSpPr txBox="1"/>
          <p:nvPr/>
        </p:nvSpPr>
        <p:spPr>
          <a:xfrm>
            <a:off x="3134106" y="4628498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00" b="1" dirty="0" err="1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</a:t>
            </a:r>
            <a:endParaRPr lang="en-US" sz="900" b="1" dirty="0">
              <a:solidFill>
                <a:srgbClr val="4F46E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4400550" y="4619353"/>
            <a:ext cx="1162202" cy="418795"/>
          </a:xfrm>
          <a:prstGeom prst="roundRect">
            <a:avLst>
              <a:gd name="adj" fmla="val 208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14"/>
          <p:cNvSpPr txBox="1"/>
          <p:nvPr/>
        </p:nvSpPr>
        <p:spPr>
          <a:xfrm>
            <a:off x="4400550" y="4629607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00" b="1" dirty="0" err="1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알람</a:t>
            </a:r>
            <a:r>
              <a:rPr lang="en-US" altLang="ko-KR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altLang="ko-KR" sz="900" b="1" dirty="0">
              <a:solidFill>
                <a:srgbClr val="4F46E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0" name="Text 14"/>
          <p:cNvSpPr txBox="1"/>
          <p:nvPr/>
        </p:nvSpPr>
        <p:spPr>
          <a:xfrm>
            <a:off x="604571" y="4117848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 err="1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릴스</a:t>
            </a:r>
            <a:endParaRPr lang="en-US" sz="900" b="1" dirty="0">
              <a:solidFill>
                <a:srgbClr val="4F46E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4" y="1028700"/>
            <a:ext cx="1471559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2686" y="1028700"/>
            <a:ext cx="5659222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/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8382305" y="362102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</a:t>
            </a:r>
            <a:r>
              <a:rPr lang="ko-KR" altLang="en-US" sz="900" kern="0" spc="135" dirty="0" err="1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릴스</a:t>
            </a:r>
            <a:r>
              <a:rPr lang="en-US" altLang="ko-KR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Reels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609905" y="1410005"/>
            <a:ext cx="5524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500" b="1" kern="0" spc="-51" dirty="0" err="1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릴스</a:t>
            </a: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섹션은</a:t>
            </a:r>
            <a:endParaRPr lang="en-US" sz="2500" dirty="0"/>
          </a:p>
          <a:p>
            <a:pPr marL="0" indent="0" algn="l">
              <a:buNone/>
            </a:pPr>
            <a:r>
              <a:rPr lang="ko-KR" altLang="en-US" sz="2500" b="1" kern="0" spc="-51" dirty="0">
                <a:solidFill>
                  <a:srgbClr val="0F172A"/>
                </a:solidFill>
                <a:latin typeface="Pretendard" pitchFamily="34" charset="0"/>
              </a:rPr>
              <a:t>재밌는 연구를 보기 편하게 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보여줍니다</a:t>
            </a:r>
            <a:endParaRPr lang="en-US" sz="2500" dirty="0"/>
          </a:p>
        </p:txBody>
      </p:sp>
      <p:sp>
        <p:nvSpPr>
          <p:cNvPr id="18" name="Text 9"/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재밌는 연구들을 논문의 첫 페이지</a:t>
            </a:r>
            <a:r>
              <a:rPr lang="en-US" altLang="ko-KR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Abstract</a:t>
            </a:r>
            <a:r>
              <a:rPr lang="ko-KR" alt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함께 보여줍니다</a:t>
            </a:r>
            <a:r>
              <a:rPr lang="en-US" altLang="ko-KR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buNone/>
            </a:pPr>
            <a:r>
              <a:rPr lang="ko-KR" alt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</a:t>
            </a:r>
            <a:r>
              <a:rPr lang="ko-KR" alt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빠르게 넘기며 보는 재밌는 연구들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990295" y="398129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재밌는 연구 논문들의 첫 페이지와 </a:t>
            </a:r>
            <a:r>
              <a:rPr lang="en-US" altLang="ko-KR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abstract</a:t>
            </a:r>
            <a:r>
              <a:rPr lang="ko-KR" alt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빠르게 훑어볼 수 있습니다</a:t>
            </a: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AI </a:t>
            </a:r>
            <a:r>
              <a:rPr lang="ko-KR" alt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관심이 가는 연구가 있을 때 </a:t>
            </a:r>
            <a:r>
              <a:rPr lang="en-US" altLang="ko-KR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해당 연구를 요약해줍니다</a:t>
            </a: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</a:t>
            </a:r>
            <a:r>
              <a:rPr lang="ko-KR" alt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휙휙 넘기며 보는 연구 결과들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25" name="Text 16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12</a:t>
            </a:r>
            <a:endParaRPr lang="en-US" sz="800" dirty="0"/>
          </a:p>
        </p:txBody>
      </p:sp>
      <p:sp>
        <p:nvSpPr>
          <p:cNvPr id="28" name="Text 7"/>
          <p:cNvSpPr txBox="1"/>
          <p:nvPr/>
        </p:nvSpPr>
        <p:spPr>
          <a:xfrm>
            <a:off x="609905" y="1028700"/>
            <a:ext cx="14715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01 - Reels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D742B51-7AB4-D9B0-D444-5B0B5088BE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390" y="1380743"/>
            <a:ext cx="5430764" cy="4583485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376597-F975-D129-3AB4-681CE7EB85D0}"/>
              </a:ext>
            </a:extLst>
          </p:cNvPr>
          <p:cNvSpPr/>
          <p:nvPr/>
        </p:nvSpPr>
        <p:spPr>
          <a:xfrm>
            <a:off x="6453534" y="5772279"/>
            <a:ext cx="559826" cy="362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BF41-2CEA-FF13-20DC-3E233DD6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4488C9-F182-CA06-0C88-4C09229BE5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>
            <a:extLst>
              <a:ext uri="{FF2B5EF4-FFF2-40B4-BE49-F238E27FC236}">
                <a16:creationId xmlns:a16="http://schemas.microsoft.com/office/drawing/2014/main" id="{30589990-C98D-6D06-E77D-923EB1FC3F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>
            <a:extLst>
              <a:ext uri="{FF2B5EF4-FFF2-40B4-BE49-F238E27FC236}">
                <a16:creationId xmlns:a16="http://schemas.microsoft.com/office/drawing/2014/main" id="{7A80D059-6400-D159-08E5-E67C529E4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06977811-5D82-921E-DA0B-5F45673E7A7B}"/>
              </a:ext>
            </a:extLst>
          </p:cNvPr>
          <p:cNvSpPr/>
          <p:nvPr/>
        </p:nvSpPr>
        <p:spPr>
          <a:xfrm>
            <a:off x="609904" y="1028700"/>
            <a:ext cx="1471559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2793268-A7D2-E701-4C05-584B9BB8DD25}"/>
              </a:ext>
            </a:extLst>
          </p:cNvPr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1059ABF-5293-3EFB-B7C1-65D0BFFE63B8}"/>
              </a:ext>
            </a:extLst>
          </p:cNvPr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>
            <a:extLst>
              <a:ext uri="{FF2B5EF4-FFF2-40B4-BE49-F238E27FC236}">
                <a16:creationId xmlns:a16="http://schemas.microsoft.com/office/drawing/2014/main" id="{4513A520-94E1-E7C7-42CE-E3723EE84E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>
            <a:extLst>
              <a:ext uri="{FF2B5EF4-FFF2-40B4-BE49-F238E27FC236}">
                <a16:creationId xmlns:a16="http://schemas.microsoft.com/office/drawing/2014/main" id="{6C97AC9C-A72A-CA0B-186E-CB20C3D801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2686" y="1028700"/>
            <a:ext cx="5659222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>
            <a:extLst>
              <a:ext uri="{FF2B5EF4-FFF2-40B4-BE49-F238E27FC236}">
                <a16:creationId xmlns:a16="http://schemas.microsoft.com/office/drawing/2014/main" id="{46C76CD8-6202-C09E-DE98-551C11FCAD5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>
            <a:extLst>
              <a:ext uri="{FF2B5EF4-FFF2-40B4-BE49-F238E27FC236}">
                <a16:creationId xmlns:a16="http://schemas.microsoft.com/office/drawing/2014/main" id="{CEF92A42-5AB9-8BE4-6E8D-E5095CFFCF6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2" name="Shape 4">
            <a:extLst>
              <a:ext uri="{FF2B5EF4-FFF2-40B4-BE49-F238E27FC236}">
                <a16:creationId xmlns:a16="http://schemas.microsoft.com/office/drawing/2014/main" id="{4A5DE4C2-E3C0-4A95-3793-416BB7BDD000}"/>
              </a:ext>
            </a:extLst>
          </p:cNvPr>
          <p:cNvSpPr/>
          <p:nvPr/>
        </p:nvSpPr>
        <p:spPr>
          <a:xfrm>
            <a:off x="6476695" y="1218895"/>
            <a:ext cx="4914900" cy="4914900"/>
          </a:xfrm>
          <a:prstGeom prst="roundRect">
            <a:avLst>
              <a:gd name="adj" fmla="val 72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E4DF7BA-AEC7-E8F8-8F1B-9DA387578A39}"/>
              </a:ext>
            </a:extLst>
          </p:cNvPr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553A9AC-4D0A-8F80-E153-162D4CF4B6C7}"/>
              </a:ext>
            </a:extLst>
          </p:cNvPr>
          <p:cNvSpPr txBox="1"/>
          <p:nvPr/>
        </p:nvSpPr>
        <p:spPr>
          <a:xfrm>
            <a:off x="8382305" y="362102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</a:t>
            </a:r>
            <a:r>
              <a:rPr lang="en-US" sz="900" kern="0" spc="135" dirty="0" err="1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r>
              <a:rPr lang="en-US" altLang="ko-KR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Trending</a:t>
            </a:r>
            <a:endParaRPr lang="en-US" sz="9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04E8645-9784-CF3C-D2EF-EF660E851351}"/>
              </a:ext>
            </a:extLst>
          </p:cNvPr>
          <p:cNvSpPr txBox="1"/>
          <p:nvPr/>
        </p:nvSpPr>
        <p:spPr>
          <a:xfrm>
            <a:off x="609905" y="1410005"/>
            <a:ext cx="5524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트렌드 섹션은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주목할 연구를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보여줍니다</a:t>
            </a:r>
            <a:endParaRPr lang="en-US" sz="25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6328E1A-A3B1-AB03-BC49-83EF202FFD14}"/>
              </a:ext>
            </a:extLst>
          </p:cNvPr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매일 새로 올라온 논문과 연구 자산을 줄여보고,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관심 있는 흐름으로 바로 이동하는 첫 화면입니다. </a:t>
            </a:r>
            <a:endParaRPr lang="en-US" sz="10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E93E8ED-ADD9-4393-73D1-B8CD330E5297}"/>
              </a:ext>
            </a:extLst>
          </p:cNvPr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오늘의 연구 흐름 확인</a:t>
            </a:r>
            <a:endParaRPr lang="en-US" sz="10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690FDDEC-88F8-151C-B6D6-381F5DCFADDD}"/>
              </a:ext>
            </a:extLst>
          </p:cNvPr>
          <p:cNvSpPr txBox="1"/>
          <p:nvPr/>
        </p:nvSpPr>
        <p:spPr>
          <a:xfrm>
            <a:off x="990295" y="398129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논문 · 모델 · 저장소를 카드 형태로 빠르게 스캔할 수 있습니다.</a:t>
            </a:r>
            <a:endParaRPr lang="en-US" sz="9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CA53DCC7-CAFD-A1B4-6212-C3A1973EA3F0}"/>
              </a:ext>
            </a:extLst>
          </p:cNvPr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관심 토픽으로 연결</a:t>
            </a:r>
            <a:endParaRPr lang="en-US" sz="10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7D35CAF-F898-2B2A-70F1-D905C69125A2}"/>
              </a:ext>
            </a:extLst>
          </p:cNvPr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같은 키워드를 중심으로 최근 연구가 어디로 움직이는지 감을 잡습니다.</a:t>
            </a:r>
            <a:endParaRPr lang="en-US" sz="9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09A86C24-DF94-9198-4E09-46ECFED45C89}"/>
              </a:ext>
            </a:extLst>
          </p:cNvPr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매일의 연구 뉴스피드 역할</a:t>
            </a:r>
            <a:endParaRPr lang="en-US" sz="9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066E5006-1DE4-9017-9062-803BB9F5BF25}"/>
              </a:ext>
            </a:extLst>
          </p:cNvPr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297D5F4A-17AB-4C69-AD72-A45EC14CC0ED}"/>
              </a:ext>
            </a:extLst>
          </p:cNvPr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12</a:t>
            </a:r>
            <a:endParaRPr lang="en-US" sz="8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ED16F8E-5270-3588-3A15-FC3206D4EF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389" y="1218895"/>
            <a:ext cx="5147206" cy="4914899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BD055B-DF85-74C5-368B-17C0E3A3CB35}"/>
              </a:ext>
            </a:extLst>
          </p:cNvPr>
          <p:cNvSpPr/>
          <p:nvPr/>
        </p:nvSpPr>
        <p:spPr>
          <a:xfrm>
            <a:off x="6476695" y="5811829"/>
            <a:ext cx="715879" cy="4271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B3D40807-11F2-8228-8BFD-78C7EF15B1F7}"/>
              </a:ext>
            </a:extLst>
          </p:cNvPr>
          <p:cNvSpPr txBox="1"/>
          <p:nvPr/>
        </p:nvSpPr>
        <p:spPr>
          <a:xfrm>
            <a:off x="609905" y="1028700"/>
            <a:ext cx="14715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02 - Trend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725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4" y="1028700"/>
            <a:ext cx="1994933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62802" y="1028700"/>
            <a:ext cx="5639105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/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6214311" y="1218895"/>
            <a:ext cx="5177284" cy="4914900"/>
          </a:xfrm>
          <a:prstGeom prst="roundRect">
            <a:avLst>
              <a:gd name="adj" fmla="val 72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5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altLang="ko-KR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altLang="ko-KR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8382305" y="362102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빠른탐색 · Quick Search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609905" y="1410005"/>
            <a:ext cx="5524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빠른탐색은 여러 출처의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관련 정보를 한 번에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긁어옵니다</a:t>
            </a:r>
            <a:endParaRPr lang="en-US" sz="2500" dirty="0"/>
          </a:p>
        </p:txBody>
      </p:sp>
      <p:sp>
        <p:nvSpPr>
          <p:cNvPr id="18" name="Text 9"/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사용자가 topic과 기간을 정하면 논문 · 모델 · 코드 저장소를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묶어서 검색합니다. 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기간 기반 탐색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990295" y="398129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1주 · 1개월 · 3개월, 직접 설정 등 원하는 시간 범위로 좁힙니다.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여러 사이트 통합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논문은 arXiv에서, Hugging Face는 모델과 GitHub은 저장소까지 함께 비교합니다.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연구 자료 수집의 첫 관문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25" name="Text 16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12</a:t>
            </a:r>
            <a:endParaRPr lang="en-US" sz="800" dirty="0"/>
          </a:p>
        </p:txBody>
      </p:sp>
      <p:sp>
        <p:nvSpPr>
          <p:cNvPr id="26" name="Text 7"/>
          <p:cNvSpPr txBox="1"/>
          <p:nvPr/>
        </p:nvSpPr>
        <p:spPr>
          <a:xfrm>
            <a:off x="609905" y="1028700"/>
            <a:ext cx="199493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03 – Quick Search</a:t>
            </a:r>
            <a:endParaRPr lang="en-US" sz="900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463" y="1218895"/>
            <a:ext cx="5234930" cy="4914900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6214310" y="1668685"/>
            <a:ext cx="1339649" cy="368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4" y="1028700"/>
            <a:ext cx="2031695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2686" y="1028700"/>
            <a:ext cx="5659222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/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6476695" y="1218895"/>
            <a:ext cx="4914900" cy="4914900"/>
          </a:xfrm>
          <a:prstGeom prst="roundRect">
            <a:avLst>
              <a:gd name="adj" fmla="val 72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6" descr="gen-dedup-b212de8b79b4cd8bed0ec0e437b4ce73.jpg"/>
          <p:cNvPicPr>
            <a:picLocks noChangeAspect="1"/>
          </p:cNvPicPr>
          <p:nvPr/>
        </p:nvPicPr>
        <p:blipFill rotWithShape="1">
          <a:blip r:embed="rId8"/>
          <a:srcRect l="-343" r="-351"/>
          <a:stretch/>
        </p:blipFill>
        <p:spPr>
          <a:xfrm>
            <a:off x="6117146" y="1218895"/>
            <a:ext cx="5274449" cy="49149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8382305" y="362102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학습경로 · Learning Path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609905" y="1410005"/>
            <a:ext cx="5524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학습경로는 주제의 시작부터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현재까지를 </a:t>
            </a:r>
            <a:r>
              <a:rPr lang="en-US" sz="2500" b="1" kern="0" spc="-5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순서로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정리합니다 </a:t>
            </a:r>
            <a:endParaRPr lang="en-US" sz="2500" dirty="0"/>
          </a:p>
        </p:txBody>
      </p:sp>
      <p:sp>
        <p:nvSpPr>
          <p:cNvPr id="18" name="Text 9"/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주제가 왜 등장했고, 시대별로 어떤 문제를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해결해왔는지 LLM이 설명합니다. 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역사적 흐름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990295" y="398129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연구부터 최신 연구까지 시기별로 나누어 보여줍니다.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변화의 이유 설명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시기마다 어떤 한계와 문제를 풀었고 새 접근이 나왔는지 요약합니다.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논문 읽기 전에 보는 연구 지도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25" name="Text 16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12</a:t>
            </a:r>
            <a:endParaRPr lang="en-US" sz="800" dirty="0"/>
          </a:p>
        </p:txBody>
      </p:sp>
      <p:sp>
        <p:nvSpPr>
          <p:cNvPr id="26" name="Text 7"/>
          <p:cNvSpPr txBox="1"/>
          <p:nvPr/>
        </p:nvSpPr>
        <p:spPr>
          <a:xfrm>
            <a:off x="609904" y="1028700"/>
            <a:ext cx="203169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04 – Learning Path</a:t>
            </a:r>
            <a:endParaRPr lang="en-US" sz="900" dirty="0"/>
          </a:p>
        </p:txBody>
      </p:sp>
      <p:sp>
        <p:nvSpPr>
          <p:cNvPr id="28" name="직사각형 27"/>
          <p:cNvSpPr/>
          <p:nvPr/>
        </p:nvSpPr>
        <p:spPr>
          <a:xfrm>
            <a:off x="7395671" y="1673766"/>
            <a:ext cx="1339649" cy="368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028700"/>
            <a:ext cx="2342845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62802" y="1028700"/>
            <a:ext cx="5639105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/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8382305" y="362102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인용계보 · Research Lineage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609905" y="1410005"/>
            <a:ext cx="5524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인용계보는 어떤 논문이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연구 흐름을 </a:t>
            </a:r>
            <a:r>
              <a:rPr lang="en-US" sz="2500" b="1" kern="0" spc="-5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이끌었는지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보여줍니다 </a:t>
            </a:r>
            <a:endParaRPr lang="en-US" sz="2500" dirty="0"/>
          </a:p>
        </p:txBody>
      </p:sp>
      <p:sp>
        <p:nvSpPr>
          <p:cNvPr id="18" name="Text 9"/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인용 횟수와 인용 관계를 통해 주제 안에서 영향력이 큰 논문을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파악합니다. 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영향력 기준 정렬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990295" y="398129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수가 높은 대표 논문과 후속 연구를 함께 확인합니다.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관계 기반 이해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검색 결과가 아니라 논문이 어떤 논문 위에 이어졌는지 보여줍니다.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중요한 논문을 찾는 영향력 지도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25" name="Text 16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12</a:t>
            </a:r>
            <a:endParaRPr lang="en-US" sz="800" dirty="0"/>
          </a:p>
        </p:txBody>
      </p:sp>
      <p:sp>
        <p:nvSpPr>
          <p:cNvPr id="26" name="Text 7"/>
          <p:cNvSpPr txBox="1"/>
          <p:nvPr/>
        </p:nvSpPr>
        <p:spPr>
          <a:xfrm>
            <a:off x="609905" y="1028700"/>
            <a:ext cx="240634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05 – Research Lineage</a:t>
            </a:r>
            <a:endParaRPr lang="en-US" sz="9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923A97A-0F7E-93D4-4765-9F51ED67A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0491" y="1314907"/>
            <a:ext cx="5387116" cy="4791456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11FC3621-9B6A-29F1-A9C9-ED2B0C9548E7}"/>
              </a:ext>
            </a:extLst>
          </p:cNvPr>
          <p:cNvSpPr/>
          <p:nvPr/>
        </p:nvSpPr>
        <p:spPr>
          <a:xfrm>
            <a:off x="8786812" y="1754981"/>
            <a:ext cx="1302543" cy="1857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028700"/>
            <a:ext cx="2416038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0" y="1028700"/>
            <a:ext cx="5315407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/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6476695" y="1218895"/>
            <a:ext cx="4914900" cy="4914900"/>
          </a:xfrm>
          <a:prstGeom prst="roundRect">
            <a:avLst>
              <a:gd name="adj" fmla="val 72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6" descr="gen-dedup-3490c9dbcee53aafd3afd60621f97dff.jpg"/>
          <p:cNvPicPr>
            <a:picLocks noChangeAspect="1"/>
          </p:cNvPicPr>
          <p:nvPr/>
        </p:nvPicPr>
        <p:blipFill rotWithShape="1">
          <a:blip r:embed="rId8"/>
          <a:srcRect l="-295" r="94"/>
          <a:stretch/>
        </p:blipFill>
        <p:spPr>
          <a:xfrm>
            <a:off x="6466403" y="1218895"/>
            <a:ext cx="4925192" cy="49149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8001000" y="362102"/>
            <a:ext cx="3581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연구자 네트워크 · Researcher Network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609905" y="1410005"/>
            <a:ext cx="5524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연구자 네트워크는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공저 관계</a:t>
            </a: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연구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커뮤니티를 파악합니다 </a:t>
            </a:r>
            <a:endParaRPr lang="en-US" sz="2500" dirty="0"/>
          </a:p>
        </p:txBody>
      </p:sp>
      <p:sp>
        <p:nvSpPr>
          <p:cNvPr id="18" name="Text 9"/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특정 연구자와 함께 논문을 쓴 공저자, 공동 논문 수,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연결 강도를 네트워크로 보여줍니다. 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사람 중심 탐색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990295" y="398129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논문이 아니라 연구자를 기준으로 협업 구조를 살펴봅니다.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공저 관계 시각화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노드와 선의 굵기로 누가 누구와 많이 연결되어 있는지 확인합니다.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연구자를 중심으로 보는 협업 지도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25" name="Text 16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12</a:t>
            </a:r>
            <a:endParaRPr lang="en-US" sz="800" dirty="0"/>
          </a:p>
        </p:txBody>
      </p:sp>
      <p:sp>
        <p:nvSpPr>
          <p:cNvPr id="26" name="Text 7"/>
          <p:cNvSpPr txBox="1"/>
          <p:nvPr/>
        </p:nvSpPr>
        <p:spPr>
          <a:xfrm>
            <a:off x="609904" y="1028700"/>
            <a:ext cx="235587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06 – Researcher Network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0051946" y="1640791"/>
            <a:ext cx="1339649" cy="368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028700"/>
            <a:ext cx="1676095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0" y="1028700"/>
            <a:ext cx="5315407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/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6476695" y="1218895"/>
            <a:ext cx="4914900" cy="4914900"/>
          </a:xfrm>
          <a:prstGeom prst="roundRect">
            <a:avLst>
              <a:gd name="adj" fmla="val 72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6" descr="gen-dedup-8d974209d573cd315b9c2895d11dac13.jpg"/>
          <p:cNvPicPr>
            <a:picLocks noChangeAspect="1"/>
          </p:cNvPicPr>
          <p:nvPr/>
        </p:nvPicPr>
        <p:blipFill rotWithShape="1">
          <a:blip r:embed="rId8"/>
          <a:srcRect l="-548" r="25"/>
          <a:stretch/>
        </p:blipFill>
        <p:spPr>
          <a:xfrm>
            <a:off x="6423719" y="1218895"/>
            <a:ext cx="4967876" cy="49149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8382305" y="362102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내 피드 · My Feed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609905" y="1410005"/>
            <a:ext cx="5524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피드는 자주 보거나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관심 있는 토픽을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kern="0" spc="-5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개인화</a:t>
            </a:r>
            <a:r>
              <a:rPr lang="en-US" sz="2500" b="1" kern="0" spc="-5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해서 보여줍니다 </a:t>
            </a:r>
            <a:endParaRPr lang="en-US" sz="2500" dirty="0"/>
          </a:p>
        </p:txBody>
      </p:sp>
      <p:sp>
        <p:nvSpPr>
          <p:cNvPr id="18" name="Text 9"/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분야와 키워드를 저장하면 관련 논문이 개인 피드에 쌓입니다.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개인 관심사 반영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990295" y="3981298"/>
            <a:ext cx="47777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NLP · LLM · Generative AI 같은 분야와 RAG 같은 키워드를 기준으로 구성합니다.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논문 카드 큐레이션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수 · 토픽 태그 · 초록 · AI 요약 버튼을 한 카드에서 확인합니다.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나에게 맞춘 연구 피드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25" name="Text 16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800" dirty="0"/>
          </a:p>
        </p:txBody>
      </p:sp>
      <p:sp>
        <p:nvSpPr>
          <p:cNvPr id="26" name="Text 7"/>
          <p:cNvSpPr txBox="1"/>
          <p:nvPr/>
        </p:nvSpPr>
        <p:spPr>
          <a:xfrm>
            <a:off x="609905" y="1028700"/>
            <a:ext cx="157984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07 – My Feed</a:t>
            </a:r>
            <a:endParaRPr lang="en-US" sz="900" dirty="0"/>
          </a:p>
        </p:txBody>
      </p:sp>
      <p:sp>
        <p:nvSpPr>
          <p:cNvPr id="28" name="직사각형 27"/>
          <p:cNvSpPr/>
          <p:nvPr/>
        </p:nvSpPr>
        <p:spPr>
          <a:xfrm>
            <a:off x="7611267" y="5817977"/>
            <a:ext cx="1339649" cy="368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4" name="Image 1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515100"/>
            <a:ext cx="10972800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028700"/>
            <a:ext cx="1892663" cy="286207"/>
          </a:xfrm>
          <a:prstGeom prst="roundRect">
            <a:avLst>
              <a:gd name="adj" fmla="val 31948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09905" y="3638398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905" y="4343400"/>
            <a:ext cx="5162702" cy="609905"/>
          </a:xfrm>
          <a:prstGeom prst="roundRect">
            <a:avLst>
              <a:gd name="adj" fmla="val 5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5150bace999eda3156547eba9847646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5886907"/>
            <a:ext cx="5162702" cy="457200"/>
          </a:xfrm>
          <a:prstGeom prst="rect">
            <a:avLst/>
          </a:prstGeom>
        </p:spPr>
      </p:pic>
      <p:pic>
        <p:nvPicPr>
          <p:cNvPr id="9" name="Image 3" descr="gen-dedup-96508c166e93e0f494eb957fa4792f0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0" y="1028700"/>
            <a:ext cx="5315407" cy="5315407"/>
          </a:xfrm>
          <a:prstGeom prst="rect">
            <a:avLst/>
          </a:prstGeom>
        </p:spPr>
      </p:pic>
      <p:pic>
        <p:nvPicPr>
          <p:cNvPr id="10" name="Image 4" descr="gen-dedup-b17960ee599508b4110dc3bd24dc47b5.png"/>
          <p:cNvPicPr>
            <a:picLocks noChangeAspect="1"/>
          </p:cNvPicPr>
          <p:nvPr/>
        </p:nvPicPr>
        <p:blipFill>
          <a:blip r:embed="rId6"/>
          <a:srcRect l="-387" r="-387"/>
          <a:stretch/>
        </p:blipFill>
        <p:spPr>
          <a:xfrm>
            <a:off x="609905" y="3638398"/>
            <a:ext cx="38405" cy="590702"/>
          </a:xfrm>
          <a:prstGeom prst="rect">
            <a:avLst/>
          </a:prstGeom>
        </p:spPr>
      </p:pic>
      <p:pic>
        <p:nvPicPr>
          <p:cNvPr id="11" name="Image 5" descr="gen-dedup-8854b3ef60a57577124ab1dc34612a3f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4343400"/>
            <a:ext cx="38405" cy="590702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6476695" y="1218895"/>
            <a:ext cx="2381098" cy="1923898"/>
          </a:xfrm>
          <a:prstGeom prst="roundRect">
            <a:avLst>
              <a:gd name="adj" fmla="val 3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6" descr="gen-dedup-8a5a351ecf7e0e1d880c534c94f1a5f9.jpg"/>
          <p:cNvPicPr>
            <a:picLocks noChangeAspect="1"/>
          </p:cNvPicPr>
          <p:nvPr/>
        </p:nvPicPr>
        <p:blipFill>
          <a:blip r:embed="rId8"/>
          <a:srcRect l="4633" r="4633"/>
          <a:stretch/>
        </p:blipFill>
        <p:spPr>
          <a:xfrm>
            <a:off x="6486754" y="1228954"/>
            <a:ext cx="2361895" cy="1904695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9029700" y="1218895"/>
            <a:ext cx="2381098" cy="1923898"/>
          </a:xfrm>
          <a:prstGeom prst="roundRect">
            <a:avLst>
              <a:gd name="adj" fmla="val 3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7" descr="gen-dedup-08fc9e7c99689c7d1bf60e834ff28c74.jpg"/>
          <p:cNvPicPr>
            <a:picLocks noChangeAspect="1"/>
          </p:cNvPicPr>
          <p:nvPr/>
        </p:nvPicPr>
        <p:blipFill>
          <a:blip r:embed="rId9"/>
          <a:srcRect l="4448" r="4448"/>
          <a:stretch/>
        </p:blipFill>
        <p:spPr>
          <a:xfrm>
            <a:off x="9038844" y="1228954"/>
            <a:ext cx="2361895" cy="1904695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6476695" y="3276295"/>
            <a:ext cx="4934102" cy="2495398"/>
          </a:xfrm>
          <a:prstGeom prst="roundRect">
            <a:avLst>
              <a:gd name="adj" fmla="val 22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7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19" name="Text 8"/>
          <p:cNvSpPr txBox="1"/>
          <p:nvPr/>
        </p:nvSpPr>
        <p:spPr>
          <a:xfrm>
            <a:off x="8001000" y="362102"/>
            <a:ext cx="3581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3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알림 또는 메일 · Alert &amp; Mail</a:t>
            </a:r>
            <a:endParaRPr lang="en-US" sz="900" dirty="0"/>
          </a:p>
        </p:txBody>
      </p:sp>
      <p:sp>
        <p:nvSpPr>
          <p:cNvPr id="21" name="Text 10"/>
          <p:cNvSpPr txBox="1"/>
          <p:nvPr/>
        </p:nvSpPr>
        <p:spPr>
          <a:xfrm>
            <a:off x="609905" y="1447495"/>
            <a:ext cx="552480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알림과 메일은 중요한 토픽이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4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떴을 때 </a:t>
            </a:r>
            <a:r>
              <a:rPr lang="en-US" sz="2400" b="1" kern="0" spc="-48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확인</a:t>
            </a:r>
            <a:r>
              <a:rPr lang="en-US" sz="2400" b="1" kern="0" spc="-4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하게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4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합니다 </a:t>
            </a:r>
            <a:endParaRPr lang="en-US" sz="2400" dirty="0"/>
          </a:p>
        </p:txBody>
      </p:sp>
      <p:sp>
        <p:nvSpPr>
          <p:cNvPr id="22" name="Text 11"/>
          <p:cNvSpPr txBox="1"/>
          <p:nvPr/>
        </p:nvSpPr>
        <p:spPr>
          <a:xfrm>
            <a:off x="609905" y="281909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관심 분야와 키워드를 기반으로 새 논문이 감지되면 앱 알림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또는 메일 브리핑으로 연결합니다. </a:t>
            </a:r>
            <a:endParaRPr lang="en-US" sz="1000" dirty="0"/>
          </a:p>
        </p:txBody>
      </p:sp>
      <p:sp>
        <p:nvSpPr>
          <p:cNvPr id="23" name="Text 12"/>
          <p:cNvSpPr txBox="1"/>
          <p:nvPr/>
        </p:nvSpPr>
        <p:spPr>
          <a:xfrm>
            <a:off x="838505" y="3771900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관심사 설정</a:t>
            </a:r>
            <a:endParaRPr lang="en-US" sz="1000" dirty="0"/>
          </a:p>
        </p:txBody>
      </p:sp>
      <p:sp>
        <p:nvSpPr>
          <p:cNvPr id="24" name="Text 13"/>
          <p:cNvSpPr txBox="1"/>
          <p:nvPr/>
        </p:nvSpPr>
        <p:spPr>
          <a:xfrm>
            <a:off x="990295" y="398129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처음에 분야를 고르고 키워드를 넣어 알림 기준을 만듭니다.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838505" y="4476902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새 논문 체크</a:t>
            </a:r>
            <a:endParaRPr lang="en-US" sz="1000" dirty="0"/>
          </a:p>
        </p:txBody>
      </p:sp>
      <p:sp>
        <p:nvSpPr>
          <p:cNvPr id="26" name="Text 15"/>
          <p:cNvSpPr txBox="1"/>
          <p:nvPr/>
        </p:nvSpPr>
        <p:spPr>
          <a:xfrm>
            <a:off x="990295" y="4686300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후 새 논문을 확인하고, 관련 결과를 내 피드와 알림으로 보여줍니다.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761695" y="588690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─ 놓치기 쉬운 연구 업데이트를 먼저 알려줌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6476695" y="5933999"/>
            <a:ext cx="5047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화면 속 상단 알림 아이콘과 개인 피드가 </a:t>
            </a:r>
            <a:r>
              <a:rPr lang="en-US" sz="900" dirty="0" err="1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연결되어</a:t>
            </a: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새 연구가 들어왔을 때 즉시 확인할 수 있습니다. 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609905" y="66294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코딩잉어단 · Research Thread Agent</a:t>
            </a:r>
            <a:endParaRPr lang="en-US" sz="800" dirty="0"/>
          </a:p>
        </p:txBody>
      </p:sp>
      <p:sp>
        <p:nvSpPr>
          <p:cNvPr id="30" name="Text 19"/>
          <p:cNvSpPr txBox="1"/>
          <p:nvPr/>
        </p:nvSpPr>
        <p:spPr>
          <a:xfrm>
            <a:off x="11123676" y="6629400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800" dirty="0"/>
          </a:p>
        </p:txBody>
      </p:sp>
      <p:sp>
        <p:nvSpPr>
          <p:cNvPr id="31" name="Text 9"/>
          <p:cNvSpPr txBox="1"/>
          <p:nvPr/>
        </p:nvSpPr>
        <p:spPr>
          <a:xfrm>
            <a:off x="609904" y="1028700"/>
            <a:ext cx="18385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08 – Alert &amp; Mail</a:t>
            </a:r>
            <a:endParaRPr lang="en-US" sz="900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95" y="1219809"/>
            <a:ext cx="4935629" cy="4591203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6549547" y="1812448"/>
            <a:ext cx="4722973" cy="752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6549547" y="5356605"/>
            <a:ext cx="4722973" cy="4056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2318207"/>
            <a:ext cx="5544007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609905" y="3079902"/>
            <a:ext cx="5544007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09905" y="3841598"/>
            <a:ext cx="5544007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905" y="4604207"/>
            <a:ext cx="5544007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324905" y="2318207"/>
            <a:ext cx="52770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324905" y="3079902"/>
            <a:ext cx="52770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324905" y="3841598"/>
            <a:ext cx="52770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2f10fc514912c49e99ad2008fdc57613.png"/>
          <p:cNvPicPr>
            <a:picLocks noChangeAspect="1"/>
          </p:cNvPicPr>
          <p:nvPr/>
        </p:nvPicPr>
        <p:blipFill>
          <a:blip r:embed="rId4"/>
          <a:srcRect t="-24" b="-24"/>
          <a:stretch/>
        </p:blipFill>
        <p:spPr>
          <a:xfrm>
            <a:off x="609905" y="5701995"/>
            <a:ext cx="10992002" cy="609905"/>
          </a:xfrm>
          <a:prstGeom prst="rect">
            <a:avLst/>
          </a:prstGeom>
        </p:spPr>
      </p:pic>
      <p:pic>
        <p:nvPicPr>
          <p:cNvPr id="13" name="Image 2" descr="gen-dedup-604684feedddf3a98252f650556a77b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2508402"/>
            <a:ext cx="1143000" cy="228600"/>
          </a:xfrm>
          <a:prstGeom prst="rect">
            <a:avLst/>
          </a:prstGeom>
        </p:spPr>
      </p:pic>
      <p:pic>
        <p:nvPicPr>
          <p:cNvPr id="14" name="Image 3" descr="gen-dedup-604684feedddf3a98252f650556a77b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270098"/>
            <a:ext cx="1143000" cy="228600"/>
          </a:xfrm>
          <a:prstGeom prst="rect">
            <a:avLst/>
          </a:prstGeom>
        </p:spPr>
      </p:pic>
      <p:pic>
        <p:nvPicPr>
          <p:cNvPr id="15" name="Image 4" descr="gen-dedup-604684feedddf3a98252f650556a77b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4032707"/>
            <a:ext cx="1143000" cy="228600"/>
          </a:xfrm>
          <a:prstGeom prst="rect">
            <a:avLst/>
          </a:prstGeom>
        </p:spPr>
      </p:pic>
      <p:pic>
        <p:nvPicPr>
          <p:cNvPr id="16" name="Image 5" descr="gen-dedup-604684feedddf3a98252f650556a77b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4794402"/>
            <a:ext cx="1143000" cy="228600"/>
          </a:xfrm>
          <a:prstGeom prst="rect">
            <a:avLst/>
          </a:prstGeom>
        </p:spPr>
      </p:pic>
      <p:pic>
        <p:nvPicPr>
          <p:cNvPr id="17" name="Image 6" descr="gen-dedup-132d64e4c63334a167be6d848fb489e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5100" y="2508402"/>
            <a:ext cx="1143000" cy="228600"/>
          </a:xfrm>
          <a:prstGeom prst="rect">
            <a:avLst/>
          </a:prstGeom>
        </p:spPr>
      </p:pic>
      <p:pic>
        <p:nvPicPr>
          <p:cNvPr id="18" name="Image 7" descr="gen-dedup-132d64e4c63334a167be6d848fb489e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5100" y="3270098"/>
            <a:ext cx="1143000" cy="228600"/>
          </a:xfrm>
          <a:prstGeom prst="rect">
            <a:avLst/>
          </a:prstGeom>
        </p:spPr>
      </p:pic>
      <p:pic>
        <p:nvPicPr>
          <p:cNvPr id="19" name="Image 8" descr="gen-dedup-132d64e4c63334a167be6d848fb489e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5100" y="4032707"/>
            <a:ext cx="1143000" cy="228600"/>
          </a:xfrm>
          <a:prstGeom prst="rect">
            <a:avLst/>
          </a:prstGeom>
        </p:spPr>
      </p:pic>
      <p:pic>
        <p:nvPicPr>
          <p:cNvPr id="20" name="Image 9" descr="gen-dedup-af4b680708aaf768cac5a4197d2ead85.png"/>
          <p:cNvPicPr>
            <a:picLocks noChangeAspect="1"/>
          </p:cNvPicPr>
          <p:nvPr/>
        </p:nvPicPr>
        <p:blipFill>
          <a:blip r:embed="rId7"/>
          <a:srcRect l="-387" r="-387"/>
          <a:stretch/>
        </p:blipFill>
        <p:spPr>
          <a:xfrm>
            <a:off x="609905" y="5701995"/>
            <a:ext cx="57607" cy="590702"/>
          </a:xfrm>
          <a:prstGeom prst="rect">
            <a:avLst/>
          </a:prstGeom>
        </p:spPr>
      </p:pic>
      <p:pic>
        <p:nvPicPr>
          <p:cNvPr id="21" name="Image 10" descr="gen-dedup-88aa61c8f038bf4e3424df85a3a1b318.png"/>
          <p:cNvPicPr>
            <a:picLocks noChangeAspect="1"/>
          </p:cNvPicPr>
          <p:nvPr/>
        </p:nvPicPr>
        <p:blipFill>
          <a:blip r:embed="rId8"/>
          <a:srcRect t="-2045" b="-2045"/>
          <a:stretch/>
        </p:blipFill>
        <p:spPr>
          <a:xfrm>
            <a:off x="1790395" y="5798007"/>
            <a:ext cx="9144" cy="418795"/>
          </a:xfrm>
          <a:prstGeom prst="rect">
            <a:avLst/>
          </a:prstGeom>
        </p:spPr>
      </p:pic>
      <p:sp>
        <p:nvSpPr>
          <p:cNvPr id="22" name="Text 9"/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24" name="Text 11"/>
          <p:cNvSpPr txBox="1"/>
          <p:nvPr/>
        </p:nvSpPr>
        <p:spPr>
          <a:xfrm>
            <a:off x="609905" y="10287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 · WRAP-UP</a:t>
            </a:r>
            <a:endParaRPr lang="en-US" sz="900" dirty="0"/>
          </a:p>
        </p:txBody>
      </p:sp>
      <p:sp>
        <p:nvSpPr>
          <p:cNvPr id="25" name="Text 12"/>
          <p:cNvSpPr txBox="1"/>
          <p:nvPr/>
        </p:nvSpPr>
        <p:spPr>
          <a:xfrm>
            <a:off x="609905" y="1314907"/>
            <a:ext cx="7620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300" dirty="0"/>
          </a:p>
        </p:txBody>
      </p:sp>
      <p:sp>
        <p:nvSpPr>
          <p:cNvPr id="26" name="Text 13"/>
          <p:cNvSpPr txBox="1"/>
          <p:nvPr/>
        </p:nvSpPr>
        <p:spPr>
          <a:xfrm>
            <a:off x="609905" y="1314908"/>
            <a:ext cx="1047811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Agent는 연구자가 매일 해야 하는 </a:t>
            </a:r>
            <a:r>
              <a:rPr lang="en-US" sz="1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· 정리 · 추적</a:t>
            </a:r>
            <a:r>
              <a:rPr lang="en-US" sz="17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하나의 흐름으로 묶습니다. </a:t>
            </a:r>
            <a:endParaRPr lang="en-US" sz="1700" dirty="0"/>
          </a:p>
        </p:txBody>
      </p:sp>
      <p:sp>
        <p:nvSpPr>
          <p:cNvPr id="27" name="Text 14"/>
          <p:cNvSpPr txBox="1"/>
          <p:nvPr/>
        </p:nvSpPr>
        <p:spPr>
          <a:xfrm>
            <a:off x="800100" y="25084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endParaRPr lang="en-US" sz="800" dirty="0"/>
          </a:p>
        </p:txBody>
      </p:sp>
      <p:sp>
        <p:nvSpPr>
          <p:cNvPr id="28" name="Text 15"/>
          <p:cNvSpPr txBox="1"/>
          <p:nvPr/>
        </p:nvSpPr>
        <p:spPr>
          <a:xfrm>
            <a:off x="2115007" y="2508402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주목할 연구를 먼저 봄</a:t>
            </a:r>
            <a:endParaRPr lang="en-US" sz="1000" dirty="0"/>
          </a:p>
        </p:txBody>
      </p:sp>
      <p:sp>
        <p:nvSpPr>
          <p:cNvPr id="29" name="Text 16"/>
          <p:cNvSpPr txBox="1"/>
          <p:nvPr/>
        </p:nvSpPr>
        <p:spPr>
          <a:xfrm>
            <a:off x="800100" y="327009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학습경로</a:t>
            </a:r>
            <a:endParaRPr lang="en-US" sz="800" dirty="0"/>
          </a:p>
        </p:txBody>
      </p:sp>
      <p:sp>
        <p:nvSpPr>
          <p:cNvPr id="30" name="Text 17"/>
          <p:cNvSpPr txBox="1"/>
          <p:nvPr/>
        </p:nvSpPr>
        <p:spPr>
          <a:xfrm>
            <a:off x="2115007" y="3270098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주제의 등장부터 현재까지 시간 순 정리</a:t>
            </a:r>
            <a:endParaRPr lang="en-US" sz="1000" dirty="0"/>
          </a:p>
        </p:txBody>
      </p:sp>
      <p:sp>
        <p:nvSpPr>
          <p:cNvPr id="31" name="Text 18"/>
          <p:cNvSpPr txBox="1"/>
          <p:nvPr/>
        </p:nvSpPr>
        <p:spPr>
          <a:xfrm>
            <a:off x="800100" y="4032707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연구자 네트워크</a:t>
            </a:r>
            <a:endParaRPr lang="en-US" sz="800" dirty="0"/>
          </a:p>
        </p:txBody>
      </p:sp>
      <p:sp>
        <p:nvSpPr>
          <p:cNvPr id="32" name="Text 19"/>
          <p:cNvSpPr txBox="1"/>
          <p:nvPr/>
        </p:nvSpPr>
        <p:spPr>
          <a:xfrm>
            <a:off x="2115007" y="4032707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공저 관계로 연구 커뮤니티 이해</a:t>
            </a:r>
            <a:endParaRPr lang="en-US" sz="1000" dirty="0"/>
          </a:p>
        </p:txBody>
      </p:sp>
      <p:sp>
        <p:nvSpPr>
          <p:cNvPr id="33" name="Text 20"/>
          <p:cNvSpPr txBox="1"/>
          <p:nvPr/>
        </p:nvSpPr>
        <p:spPr>
          <a:xfrm>
            <a:off x="800100" y="47944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/ 메일</a:t>
            </a:r>
            <a:endParaRPr lang="en-US" sz="800" dirty="0"/>
          </a:p>
        </p:txBody>
      </p:sp>
      <p:sp>
        <p:nvSpPr>
          <p:cNvPr id="34" name="Text 21"/>
          <p:cNvSpPr txBox="1"/>
          <p:nvPr/>
        </p:nvSpPr>
        <p:spPr>
          <a:xfrm>
            <a:off x="2115007" y="4794402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연구가 뜨면 바로 확인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6515100" y="25084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빠른탐색</a:t>
            </a:r>
            <a:endParaRPr lang="en-US" sz="800" dirty="0"/>
          </a:p>
        </p:txBody>
      </p:sp>
      <p:sp>
        <p:nvSpPr>
          <p:cNvPr id="36" name="Text 23"/>
          <p:cNvSpPr txBox="1"/>
          <p:nvPr/>
        </p:nvSpPr>
        <p:spPr>
          <a:xfrm>
            <a:off x="7830007" y="2508402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기간과 토픽으로 여러 출처 한 번에 검색</a:t>
            </a:r>
            <a:endParaRPr lang="en-US" sz="1000" dirty="0"/>
          </a:p>
        </p:txBody>
      </p:sp>
      <p:sp>
        <p:nvSpPr>
          <p:cNvPr id="37" name="Text 24"/>
          <p:cNvSpPr txBox="1"/>
          <p:nvPr/>
        </p:nvSpPr>
        <p:spPr>
          <a:xfrm>
            <a:off x="6515100" y="327009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인용계보</a:t>
            </a:r>
            <a:endParaRPr lang="en-US" sz="800" dirty="0"/>
          </a:p>
        </p:txBody>
      </p:sp>
      <p:sp>
        <p:nvSpPr>
          <p:cNvPr id="38" name="Text 25"/>
          <p:cNvSpPr txBox="1"/>
          <p:nvPr/>
        </p:nvSpPr>
        <p:spPr>
          <a:xfrm>
            <a:off x="7830007" y="3270098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영향력 있는 논문과 인용 관계 파악</a:t>
            </a:r>
            <a:endParaRPr lang="en-US" sz="1000" dirty="0"/>
          </a:p>
        </p:txBody>
      </p:sp>
      <p:sp>
        <p:nvSpPr>
          <p:cNvPr id="39" name="Text 26"/>
          <p:cNvSpPr txBox="1"/>
          <p:nvPr/>
        </p:nvSpPr>
        <p:spPr>
          <a:xfrm>
            <a:off x="6514795" y="40226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피드</a:t>
            </a:r>
            <a:endParaRPr lang="en-US" sz="800" dirty="0"/>
          </a:p>
        </p:txBody>
      </p:sp>
      <p:sp>
        <p:nvSpPr>
          <p:cNvPr id="40" name="Text 27"/>
          <p:cNvSpPr txBox="1"/>
          <p:nvPr/>
        </p:nvSpPr>
        <p:spPr>
          <a:xfrm>
            <a:off x="7830007" y="4032707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관심사 기반 개인화 논문 큐레이션</a:t>
            </a:r>
            <a:endParaRPr lang="en-US" sz="1000" dirty="0"/>
          </a:p>
        </p:txBody>
      </p:sp>
      <p:sp>
        <p:nvSpPr>
          <p:cNvPr id="42" name="Text 29"/>
          <p:cNvSpPr txBox="1"/>
          <p:nvPr/>
        </p:nvSpPr>
        <p:spPr>
          <a:xfrm>
            <a:off x="6515100" y="4927905"/>
            <a:ext cx="4914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8개 기능 → 하나의 연구 흐름으로 연결</a:t>
            </a:r>
            <a:endParaRPr lang="en-US" sz="1000" dirty="0"/>
          </a:p>
        </p:txBody>
      </p:sp>
      <p:sp>
        <p:nvSpPr>
          <p:cNvPr id="43" name="Text 30"/>
          <p:cNvSpPr txBox="1"/>
          <p:nvPr/>
        </p:nvSpPr>
        <p:spPr>
          <a:xfrm>
            <a:off x="914400" y="5835498"/>
            <a:ext cx="762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5" dirty="0" err="1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1981505" y="5835498"/>
            <a:ext cx="94494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앱은 단순 논문 검색기가 아니라, 연구 주제를 발견하고 이해하고 놓치지 않게 돕는 </a:t>
            </a:r>
            <a:r>
              <a:rPr lang="en-US" sz="10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연구 비서</a:t>
            </a:r>
            <a:r>
              <a:rPr lang="en-US" sz="10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</a:t>
            </a:r>
            <a:endParaRPr lang="en-US" sz="1000" dirty="0"/>
          </a:p>
        </p:txBody>
      </p:sp>
      <p:sp>
        <p:nvSpPr>
          <p:cNvPr id="45" name="Text 32"/>
          <p:cNvSpPr txBox="1"/>
          <p:nvPr/>
        </p:nvSpPr>
        <p:spPr>
          <a:xfrm>
            <a:off x="11123676" y="65909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800" dirty="0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C66F942D-3A32-A574-BE73-A598A05758B8}"/>
              </a:ext>
            </a:extLst>
          </p:cNvPr>
          <p:cNvSpPr/>
          <p:nvPr/>
        </p:nvSpPr>
        <p:spPr>
          <a:xfrm>
            <a:off x="6305093" y="4613351"/>
            <a:ext cx="52770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3BB887FD-07E8-1CC5-3128-122161F9A1E2}"/>
              </a:ext>
            </a:extLst>
          </p:cNvPr>
          <p:cNvSpPr txBox="1"/>
          <p:nvPr/>
        </p:nvSpPr>
        <p:spPr>
          <a:xfrm>
            <a:off x="6495288" y="48044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피드</a:t>
            </a:r>
            <a:endParaRPr lang="en-US" sz="800" dirty="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2B77EB92-FE73-6EFD-5844-51C54BF5366A}"/>
              </a:ext>
            </a:extLst>
          </p:cNvPr>
          <p:cNvSpPr txBox="1"/>
          <p:nvPr/>
        </p:nvSpPr>
        <p:spPr>
          <a:xfrm>
            <a:off x="7810195" y="480446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0F172A"/>
                </a:solidFill>
                <a:latin typeface="Pretendard" pitchFamily="34" charset="0"/>
              </a:rPr>
              <a:t>가볍게 각지의 연구 현황 확인</a:t>
            </a:r>
            <a:endParaRPr lang="en-US" sz="1000" dirty="0"/>
          </a:p>
        </p:txBody>
      </p:sp>
      <p:pic>
        <p:nvPicPr>
          <p:cNvPr id="52" name="Image 8" descr="gen-dedup-132d64e4c63334a167be6d848fb489e4.png">
            <a:extLst>
              <a:ext uri="{FF2B5EF4-FFF2-40B4-BE49-F238E27FC236}">
                <a16:creationId xmlns:a16="http://schemas.microsoft.com/office/drawing/2014/main" id="{E4E6584A-4151-2973-5282-EC0B9A97C6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5100" y="4802074"/>
            <a:ext cx="1143000" cy="228600"/>
          </a:xfrm>
          <a:prstGeom prst="rect">
            <a:avLst/>
          </a:prstGeom>
        </p:spPr>
      </p:pic>
      <p:sp>
        <p:nvSpPr>
          <p:cNvPr id="53" name="Text 26">
            <a:extLst>
              <a:ext uri="{FF2B5EF4-FFF2-40B4-BE49-F238E27FC236}">
                <a16:creationId xmlns:a16="http://schemas.microsoft.com/office/drawing/2014/main" id="{88575F5B-50D4-F287-DA45-86453EF1871F}"/>
              </a:ext>
            </a:extLst>
          </p:cNvPr>
          <p:cNvSpPr txBox="1"/>
          <p:nvPr/>
        </p:nvSpPr>
        <p:spPr>
          <a:xfrm>
            <a:off x="6514795" y="48044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b="1" kern="0" spc="50" dirty="0" err="1">
                <a:solidFill>
                  <a:srgbClr val="FFFFFF"/>
                </a:solidFill>
                <a:latin typeface="Pretendard" pitchFamily="34" charset="0"/>
              </a:rPr>
              <a:t>릴스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232F-BD27-045C-F49C-081CB0DA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0B0923-729F-3BFB-A9C5-5677BBBA47D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1004aa64a550a79a04cd74d7f57c96c1.png">
            <a:extLst>
              <a:ext uri="{FF2B5EF4-FFF2-40B4-BE49-F238E27FC236}">
                <a16:creationId xmlns:a16="http://schemas.microsoft.com/office/drawing/2014/main" id="{CD424506-EA07-632A-7B67-D3A045040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685800"/>
            <a:ext cx="10972800" cy="9144"/>
          </a:xfrm>
          <a:prstGeom prst="rect">
            <a:avLst/>
          </a:prstGeom>
        </p:spPr>
      </p:pic>
      <p:pic>
        <p:nvPicPr>
          <p:cNvPr id="21" name="Image 10" descr="gen-dedup-88aa61c8f038bf4e3424df85a3a1b318.png">
            <a:extLst>
              <a:ext uri="{FF2B5EF4-FFF2-40B4-BE49-F238E27FC236}">
                <a16:creationId xmlns:a16="http://schemas.microsoft.com/office/drawing/2014/main" id="{54E3088E-D500-9765-8958-0DE58435E1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045" b="-2045"/>
          <a:stretch/>
        </p:blipFill>
        <p:spPr>
          <a:xfrm>
            <a:off x="1790395" y="5798007"/>
            <a:ext cx="9144" cy="418795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10600F0B-3E02-E072-AD17-DA7932433341}"/>
              </a:ext>
            </a:extLst>
          </p:cNvPr>
          <p:cNvSpPr txBox="1"/>
          <p:nvPr/>
        </p:nvSpPr>
        <p:spPr>
          <a:xfrm>
            <a:off x="609905" y="3621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8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r>
              <a:rPr lang="en-US" sz="900" b="1" kern="0" spc="98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RESEARCH THREAD AGENT </a:t>
            </a:r>
            <a:endParaRPr lang="en-US" sz="9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2069CF3-8FFC-9C4F-7952-3C50EAF104E7}"/>
              </a:ext>
            </a:extLst>
          </p:cNvPr>
          <p:cNvSpPr txBox="1"/>
          <p:nvPr/>
        </p:nvSpPr>
        <p:spPr>
          <a:xfrm>
            <a:off x="609905" y="10287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</a:rPr>
              <a:t>MCP</a:t>
            </a:r>
            <a:r>
              <a:rPr lang="ko-KR" altLang="en-US" sz="900" b="1" kern="0" spc="18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altLang="ko-KR" sz="900" b="1" kern="0" spc="18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</a:rPr>
              <a:t>Server</a:t>
            </a:r>
            <a:endParaRPr lang="en-US" sz="9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B1DC0D94-0533-A603-DCAD-F021702C09E2}"/>
              </a:ext>
            </a:extLst>
          </p:cNvPr>
          <p:cNvSpPr txBox="1"/>
          <p:nvPr/>
        </p:nvSpPr>
        <p:spPr>
          <a:xfrm>
            <a:off x="609905" y="1314907"/>
            <a:ext cx="7620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30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B75DED45-962E-ED35-F833-D0AC410BA1B2}"/>
              </a:ext>
            </a:extLst>
          </p:cNvPr>
          <p:cNvSpPr txBox="1"/>
          <p:nvPr/>
        </p:nvSpPr>
        <p:spPr>
          <a:xfrm>
            <a:off x="6515100" y="4927905"/>
            <a:ext cx="4914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8개 기능 → 하나의 연구 흐름으로 연결</a:t>
            </a:r>
            <a:endParaRPr lang="en-US" sz="1000" dirty="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B4B62059-03B5-4892-EEC4-3E7CE50EB772}"/>
              </a:ext>
            </a:extLst>
          </p:cNvPr>
          <p:cNvSpPr txBox="1"/>
          <p:nvPr/>
        </p:nvSpPr>
        <p:spPr>
          <a:xfrm>
            <a:off x="11123676" y="65909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850">
                <a:solidFill>
                  <a:srgbClr val="93A3BC"/>
                </a:solidFill>
                <a:latin typeface="Aptos"/>
              </a:rPr>
              <a:t>14 / 15</a:t>
            </a: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5905BD15-6AA7-0661-794E-90AB86FB56D0}"/>
              </a:ext>
            </a:extLst>
          </p:cNvPr>
          <p:cNvSpPr txBox="1"/>
          <p:nvPr/>
        </p:nvSpPr>
        <p:spPr>
          <a:xfrm>
            <a:off x="6495288" y="48044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피드</a:t>
            </a:r>
            <a:endParaRPr lang="en-US" sz="80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F4E14FB1-9E3B-015C-7906-DDC47C9EE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574" y="659593"/>
            <a:ext cx="7182852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7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Glow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714500" y="-1714500"/>
            <a:ext cx="5905195" cy="5905195"/>
          </a:xfrm>
          <a:prstGeom prst="rect">
            <a:avLst/>
          </a:prstGeom>
        </p:spPr>
      </p:pic>
      <p:pic>
        <p:nvPicPr>
          <p:cNvPr id="4" name="Glow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0805" y="3619195"/>
            <a:ext cx="5905195" cy="5905195"/>
          </a:xfrm>
          <a:prstGeom prst="rect">
            <a:avLst/>
          </a:prstGeom>
        </p:spPr>
      </p:pic>
      <p:pic>
        <p:nvPicPr>
          <p:cNvPr id="5" name="Glow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53305" y="-1143000"/>
            <a:ext cx="3619195" cy="3619195"/>
          </a:xfrm>
          <a:prstGeom prst="rect">
            <a:avLst/>
          </a:prstGeom>
        </p:spPr>
      </p:pic>
      <p:sp>
        <p:nvSpPr>
          <p:cNvPr id="10" name="EOD Label"/>
          <p:cNvSpPr txBox="1"/>
          <p:nvPr/>
        </p:nvSpPr>
        <p:spPr>
          <a:xfrm>
            <a:off x="0" y="2540000"/>
            <a:ext cx="1219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40" dirty="0">
                <a:solidFill>
                  <a:srgbClr val="C4B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1" name="Thank You Title"/>
          <p:cNvSpPr txBox="1"/>
          <p:nvPr/>
        </p:nvSpPr>
        <p:spPr>
          <a:xfrm>
            <a:off x="0" y="2971800"/>
            <a:ext cx="1219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200" b="1" kern="0" spc="-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ko-KR" altLang="en-US" sz="7200" dirty="0"/>
          </a:p>
        </p:txBody>
      </p:sp>
      <p:sp>
        <p:nvSpPr>
          <p:cNvPr id="12" name="Subtitle"/>
          <p:cNvSpPr txBox="1"/>
          <p:nvPr/>
        </p:nvSpPr>
        <p:spPr>
          <a:xfrm>
            <a:off x="0" y="4191000"/>
            <a:ext cx="1219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 Thread Agent</a:t>
            </a:r>
            <a:r>
              <a:rPr lang="ko-KR" altLang="en-US" sz="15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코딩잉어단</a:t>
            </a:r>
            <a:endParaRPr lang="ko-KR" altLang="en-US" sz="1500" dirty="0"/>
          </a:p>
        </p:txBody>
      </p:sp>
      <p:sp>
        <p:nvSpPr>
          <p:cNvPr id="13" name="Tagline"/>
          <p:cNvSpPr txBox="1"/>
          <p:nvPr/>
        </p:nvSpPr>
        <p:spPr>
          <a:xfrm>
            <a:off x="0" y="4610100"/>
            <a:ext cx="1219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kern="0" spc="6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Every day, the papers worth reading.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9952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1652</Words>
  <Application>Microsoft Office PowerPoint</Application>
  <PresentationFormat>와이드스크린</PresentationFormat>
  <Paragraphs>253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JetBrains Mono</vt:lpstr>
      <vt:lpstr>Pretendard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심현성</cp:lastModifiedBy>
  <cp:revision>43</cp:revision>
  <dcterms:created xsi:type="dcterms:W3CDTF">2026-06-02T16:07:36Z</dcterms:created>
  <dcterms:modified xsi:type="dcterms:W3CDTF">2026-06-04T11:30:50Z</dcterms:modified>
</cp:coreProperties>
</file>