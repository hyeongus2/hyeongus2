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56"/>
  </p:notesMasterIdLst>
  <p:sldIdLst>
    <p:sldId id="256" r:id="rId2"/>
    <p:sldId id="300" r:id="rId3"/>
    <p:sldId id="294" r:id="rId4"/>
    <p:sldId id="295" r:id="rId5"/>
    <p:sldId id="299" r:id="rId6"/>
    <p:sldId id="312" r:id="rId7"/>
    <p:sldId id="311" r:id="rId8"/>
    <p:sldId id="313" r:id="rId9"/>
    <p:sldId id="296" r:id="rId10"/>
    <p:sldId id="314" r:id="rId11"/>
    <p:sldId id="315" r:id="rId12"/>
    <p:sldId id="316" r:id="rId13"/>
    <p:sldId id="297" r:id="rId14"/>
    <p:sldId id="317" r:id="rId15"/>
    <p:sldId id="318" r:id="rId16"/>
    <p:sldId id="320" r:id="rId17"/>
    <p:sldId id="321" r:id="rId18"/>
    <p:sldId id="319" r:id="rId19"/>
    <p:sldId id="322" r:id="rId20"/>
    <p:sldId id="323" r:id="rId21"/>
    <p:sldId id="303" r:id="rId22"/>
    <p:sldId id="324" r:id="rId23"/>
    <p:sldId id="305" r:id="rId24"/>
    <p:sldId id="326" r:id="rId25"/>
    <p:sldId id="327" r:id="rId26"/>
    <p:sldId id="328" r:id="rId27"/>
    <p:sldId id="329" r:id="rId28"/>
    <p:sldId id="330" r:id="rId29"/>
    <p:sldId id="308" r:id="rId30"/>
    <p:sldId id="309" r:id="rId31"/>
    <p:sldId id="332" r:id="rId32"/>
    <p:sldId id="347" r:id="rId33"/>
    <p:sldId id="348" r:id="rId34"/>
    <p:sldId id="343" r:id="rId35"/>
    <p:sldId id="344" r:id="rId36"/>
    <p:sldId id="307" r:id="rId37"/>
    <p:sldId id="346" r:id="rId38"/>
    <p:sldId id="345" r:id="rId39"/>
    <p:sldId id="342" r:id="rId40"/>
    <p:sldId id="349" r:id="rId41"/>
    <p:sldId id="350" r:id="rId42"/>
    <p:sldId id="351" r:id="rId43"/>
    <p:sldId id="331" r:id="rId44"/>
    <p:sldId id="306" r:id="rId45"/>
    <p:sldId id="338" r:id="rId46"/>
    <p:sldId id="335" r:id="rId47"/>
    <p:sldId id="333" r:id="rId48"/>
    <p:sldId id="334" r:id="rId49"/>
    <p:sldId id="336" r:id="rId50"/>
    <p:sldId id="337" r:id="rId51"/>
    <p:sldId id="339" r:id="rId52"/>
    <p:sldId id="340" r:id="rId53"/>
    <p:sldId id="341" r:id="rId54"/>
    <p:sldId id="301" r:id="rId5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밝은 스타일 3 - 강조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052" autoAdjust="0"/>
    <p:restoredTop sz="87416" autoAdjust="0"/>
  </p:normalViewPr>
  <p:slideViewPr>
    <p:cSldViewPr snapToGrid="0">
      <p:cViewPr varScale="1">
        <p:scale>
          <a:sx n="73" d="100"/>
          <a:sy n="73" d="100"/>
        </p:scale>
        <p:origin x="381" y="3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F810A6-5DC3-41BA-B9AF-1AFC43B9B844}" type="datetimeFigureOut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FC2483-6890-482E-AC53-D876A7EA6DC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7414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FC2483-6890-482E-AC53-D876A7EA6DC4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53867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E34541-0821-B757-0DA1-AF62195414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9FADE95-71A8-6505-E94B-D52FB6DD53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8D86A5E-BAF1-5709-71E4-3632AB35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89586E-BD85-40F7-91D0-2D30F22E1420}" type="datetime1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42D0F2B-7781-9285-176F-4BB76DC726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4138F7-880F-68DF-A7A2-654404818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3614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AAF6BB-044B-370B-FEBE-0231A321FFF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42899" y="270119"/>
            <a:ext cx="11333285" cy="538774"/>
          </a:xfrm>
        </p:spPr>
        <p:txBody>
          <a:bodyPr/>
          <a:lstStyle>
            <a:lvl1pPr>
              <a:defRPr sz="3200" b="1">
                <a:solidFill>
                  <a:schemeClr val="tx2">
                    <a:lumMod val="50000"/>
                    <a:lumOff val="50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471F5BA-58DC-9FCE-75B3-1E5EC84D5B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9" y="967154"/>
            <a:ext cx="11333285" cy="5380892"/>
          </a:xfrm>
        </p:spPr>
        <p:txBody>
          <a:bodyPr/>
          <a:lstStyle>
            <a:lvl1pPr>
              <a:defRPr sz="2400"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>
              <a:defRPr sz="2000"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>
              <a:defRPr sz="1800"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>
              <a:defRPr sz="1600"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945465-D705-5CC0-7D91-599ED387BE8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42899" y="6462346"/>
            <a:ext cx="2743200" cy="259129"/>
          </a:xfrm>
        </p:spPr>
        <p:txBody>
          <a:bodyPr/>
          <a:lstStyle/>
          <a:p>
            <a:fld id="{7C69DA4C-6DB5-4971-83A0-D7A667832670}" type="datetime1">
              <a:rPr lang="ko-KR" altLang="en-US" smtClean="0"/>
              <a:t>2026-03-20</a:t>
            </a:fld>
            <a:endParaRPr lang="ko-KR" altLang="en-US" dirty="0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EA0F03D-853B-4607-94F7-96191FEEF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62346"/>
            <a:ext cx="4114800" cy="259129"/>
          </a:xfrm>
        </p:spPr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D1E638B-49F2-F5CB-F99A-00DD4E319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32984" y="6462346"/>
            <a:ext cx="2743200" cy="259129"/>
          </a:xfrm>
        </p:spPr>
        <p:txBody>
          <a:bodyPr/>
          <a:lstStyle/>
          <a:p>
            <a:fld id="{9A9ABDE6-F26C-4589-9FF5-7FFDDB957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2322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85E677-66F6-F3F7-7E8F-746F4C223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DEB6404-2AD0-B503-4135-14097956F9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C06E62-9F43-6889-5340-78C972478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5D7E9-20A9-49C9-9C3A-2ABAF3661646}" type="datetime1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D4A4BC6-FF72-1DA5-D97F-7A61532BA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818A5BD-DB5C-3F1D-98FC-3DA44FDC07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865424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70469D-F6AB-A2D9-B2FF-C31E140420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854555E-D7B4-47AB-F5EF-F7ECD9546F2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B165AED-8DBE-C65E-33F7-A80E126EF6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25B16DD-AA0B-79C3-F327-1655252BD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4A77D6-389E-4385-B919-32520EBBB886}" type="datetime1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812D2E4-A612-B8C8-4844-AA6E2A6EDE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4B11FFD-A32E-8900-5121-B4D7FB8DDB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18901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DEF346-E218-EF9B-8C7B-3D33C4F84D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8BA5DB8-3EB2-0335-D446-1D671A9BEF4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C33C8C9-DD8C-67F8-255B-95BFF16CACB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A29ADE3C-24DA-736F-F576-E1CF852BE9B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8D3EC4D9-1CDB-4295-B5F6-057D9800736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4E25755C-FCB7-D7AE-A639-89A698E32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9C83EB-4379-4C4A-A729-83BED85011BC}" type="datetime1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0DFF409-AD75-1299-C2E3-40F9126B5D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5D08D6E-1B75-9CCD-DBF8-2C45A0768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019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66A457-2B01-380D-1B48-F74AD759F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7879089-AC7F-D0DE-FC22-5323C0D58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45A2FA-8E15-452C-BCBA-7138BF312C2F}" type="datetime1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12570454-E6AD-6206-61FB-DED6A9C34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64370054-F26B-390B-CC96-8531FCE768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1139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C2B80A9-EA06-FEFC-441F-BFCF399B19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176177-E219-4A9E-8B2B-5E34E3322412}" type="datetime1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AC35C1-EAFD-0AF0-E53E-4FAD4EFCE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C0D458-EC4B-CA29-CC5C-293031BD88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4152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29568E4-1339-17E0-83BB-FE9021CC95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93CBF48-DC38-540C-0CE2-3DEB210D4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F9956BD-FEC4-818C-662F-A965223693B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54E9992-D0B6-C735-D59D-0D65F7F41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36191-433A-4CBD-B79B-1FD571FC08F0}" type="datetime1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50CFF6-F6C5-9712-4E24-B46FA8CB5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010BCE8-1584-ECD8-5BD8-EC2D4C8D44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9024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875EFAD-D8E7-FAB9-7D8F-8E5CAE3257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2A8ECA1-057E-286A-8510-8DA425B6BB2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32E7AC6-9D8F-8F19-F38D-4EF3C8608C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AE98756-3CCB-29A9-5A4B-F444DEC21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00B89-E558-46DB-9986-9528BDBC138C}" type="datetime1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AF45B82-B27C-2E28-F7B8-4CE97D8B26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5BFDEC9-A09C-8B6C-4A90-602A4CE75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476035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F71227-7B30-770F-3E11-BD99413561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8199749-0F54-3C5D-9761-F090D3E19C8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2EFE2E2-2D02-C117-8686-ACEA7C9A7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7C3C5F-4006-4632-B3DE-1A450914749C}" type="datetime1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209C6B-3411-D62A-06E3-E235A654D3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E09773F-7BBF-71AE-EFAC-49F94704F8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068387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D085D89C-E120-6578-1B91-CFFA2A1A7A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83E8AF2-A1A1-DF48-3CBA-037CF07214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D77811A-F7D2-ADC5-F399-5193604591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02F847-FBC0-40A1-9801-1A7F5DBD685C}" type="datetime1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7CD19F9-A6EB-89FE-D0BB-545810ED10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3DC0DB5-06BB-6335-E459-4168790486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21287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0C067B07-97FC-9CEC-A108-ACA32C2507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9CD914E-83EF-9E76-AB4A-4485560AE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DBC784-B186-8CBA-8D81-2A5BEF3B5E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27570D-6A7A-4AF9-B8FF-A0876744ADD1}" type="datetime1">
              <a:rPr lang="ko-KR" altLang="en-US" smtClean="0"/>
              <a:t>2026-03-20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E46B8B2-0D42-0AB9-67CD-BE20C708D86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9B687F-F864-E44A-5629-7038BCD15C1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9ABDE6-F26C-4589-9FF5-7FFDDB9572E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2653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7" Type="http://schemas.openxmlformats.org/officeDocument/2006/relationships/image" Target="../media/image17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8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2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2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png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0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51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gif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0.png"/><Relationship Id="rId4" Type="http://schemas.openxmlformats.org/officeDocument/2006/relationships/image" Target="../media/image67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4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57B0204-E658-DA83-3858-DE94CF270BC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b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</a:b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ML basics &amp; Optimization</a:t>
            </a:r>
            <a:endParaRPr lang="ko-KR" altLang="en-US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761A28C-E340-CC14-CCBB-FC4A1F2C7D7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Date: 2026-01-15</a:t>
            </a:r>
          </a:p>
          <a:p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Presenter: </a:t>
            </a:r>
            <a:r>
              <a:rPr lang="en-US" altLang="ko-KR" dirty="0" err="1">
                <a:latin typeface="Calibri" panose="020F0502020204030204" pitchFamily="34" charset="0"/>
                <a:cs typeface="Calibri" panose="020F0502020204030204" pitchFamily="34" charset="0"/>
              </a:rPr>
              <a:t>Hyeonseong</a:t>
            </a:r>
            <a:r>
              <a:rPr lang="en-US" altLang="ko-KR" dirty="0">
                <a:latin typeface="Calibri" panose="020F0502020204030204" pitchFamily="34" charset="0"/>
                <a:cs typeface="Calibri" panose="020F0502020204030204" pitchFamily="34" charset="0"/>
              </a:rPr>
              <a:t> Sim</a:t>
            </a:r>
          </a:p>
        </p:txBody>
      </p:sp>
    </p:spTree>
    <p:extLst>
      <p:ext uri="{BB962C8B-B14F-4D97-AF65-F5344CB8AC3E}">
        <p14:creationId xmlns:p14="http://schemas.microsoft.com/office/powerpoint/2010/main" val="7888005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1F26DC-D4E1-0C88-62D1-958457E8F5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What is Learning?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F3C2188-556E-AC88-625A-E9FC434537A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altLang="ko-KR" dirty="0"/>
              </a:p>
              <a:p>
                <a:r>
                  <a:rPr lang="ko-KR" altLang="en-US" dirty="0"/>
                  <a:t>데이터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𝒟</m:t>
                    </m:r>
                  </m:oMath>
                </a14:m>
                <a:r>
                  <a:rPr lang="ko-KR" altLang="en-US" dirty="0"/>
                  <a:t>로부터 함수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모델</a:t>
                </a:r>
                <a:r>
                  <a:rPr lang="en-US" altLang="ko-KR" dirty="0"/>
                  <a:t>)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</m:oMath>
                </a14:m>
                <a:r>
                  <a:rPr lang="ko-KR" altLang="en-US" dirty="0"/>
                  <a:t>의 파라미터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ko-KR" altLang="en-US" dirty="0"/>
                  <a:t> 최적화</a:t>
                </a:r>
                <a:r>
                  <a:rPr lang="en-US" altLang="ko-KR" dirty="0"/>
                  <a:t>(optimization)</a:t>
                </a:r>
                <a:r>
                  <a:rPr lang="ko-KR" altLang="en-US" dirty="0"/>
                  <a:t>하는 과정</a:t>
                </a:r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데이터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𝒟</m:t>
                    </m:r>
                  </m:oMath>
                </a14:m>
                <a:r>
                  <a:rPr lang="ko-KR" altLang="en-US" dirty="0"/>
                  <a:t>를 가장 잘 설명하는 수학적 함수를 찾아가는 과정</a:t>
                </a:r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파라미터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ko-KR" altLang="en-US" dirty="0"/>
                  <a:t> 업데이트하는 과정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F3C2188-556E-AC88-625A-E9FC434537A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C32DDAD-62FA-C5F8-03D0-4EB4BFF17F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01982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A760E7F-A1D3-FF1C-E4B1-7F8817234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693" y="741391"/>
            <a:ext cx="3455821" cy="1616203"/>
          </a:xfrm>
        </p:spPr>
        <p:txBody>
          <a:bodyPr anchor="b">
            <a:normAutofit/>
          </a:bodyPr>
          <a:lstStyle/>
          <a:p>
            <a:r>
              <a:rPr lang="en-US" altLang="ko-KR" dirty="0"/>
              <a:t>Different Types of Learning Problems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F62F05-1AD2-CF5F-B3C0-6E8188FD17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76693" y="2533476"/>
            <a:ext cx="4301363" cy="3447832"/>
          </a:xfrm>
        </p:spPr>
        <p:txBody>
          <a:bodyPr anchor="t">
            <a:normAutofit/>
          </a:bodyPr>
          <a:lstStyle/>
          <a:p>
            <a:endParaRPr lang="en-US" altLang="ko-KR" sz="2000" dirty="0"/>
          </a:p>
          <a:p>
            <a:r>
              <a:rPr lang="en-US" altLang="ko-KR" sz="2000" dirty="0"/>
              <a:t>Supervised Learning (</a:t>
            </a:r>
            <a:r>
              <a:rPr lang="ko-KR" altLang="en-US" sz="2000" dirty="0"/>
              <a:t>지도 학습</a:t>
            </a:r>
            <a:r>
              <a:rPr lang="en-US" altLang="ko-KR" sz="2000" dirty="0"/>
              <a:t>)</a:t>
            </a:r>
          </a:p>
          <a:p>
            <a:endParaRPr lang="en-US" altLang="ko-KR" sz="2000" dirty="0"/>
          </a:p>
          <a:p>
            <a:r>
              <a:rPr lang="en-US" altLang="ko-KR" sz="2000" dirty="0"/>
              <a:t>Unsupervised Learning (</a:t>
            </a:r>
            <a:r>
              <a:rPr lang="ko-KR" altLang="en-US" sz="2000" dirty="0"/>
              <a:t>비지도 학습</a:t>
            </a:r>
            <a:r>
              <a:rPr lang="en-US" altLang="ko-KR" sz="2000" dirty="0"/>
              <a:t>)</a:t>
            </a:r>
          </a:p>
          <a:p>
            <a:endParaRPr lang="en-US" altLang="ko-KR" sz="2000" dirty="0"/>
          </a:p>
          <a:p>
            <a:r>
              <a:rPr lang="en-US" altLang="ko-KR" sz="2000" dirty="0"/>
              <a:t>Reinforcement Learning (</a:t>
            </a:r>
            <a:r>
              <a:rPr lang="ko-KR" altLang="en-US" sz="2000" dirty="0"/>
              <a:t>강화 학습</a:t>
            </a:r>
            <a:r>
              <a:rPr lang="en-US" altLang="ko-KR" sz="2000" dirty="0"/>
              <a:t>)</a:t>
            </a:r>
            <a:endParaRPr lang="ko-KR" altLang="en-US" sz="2000" dirty="0"/>
          </a:p>
        </p:txBody>
      </p:sp>
      <p:pic>
        <p:nvPicPr>
          <p:cNvPr id="1026" name="Picture 2" descr="Machine Learning Types #2. Supervised Learning | by Rajesh Khadka | TDS  Archive | Medium">
            <a:extLst>
              <a:ext uri="{FF2B5EF4-FFF2-40B4-BE49-F238E27FC236}">
                <a16:creationId xmlns:a16="http://schemas.microsoft.com/office/drawing/2014/main" id="{D4FAFAA5-ABD9-7AD3-FF38-D052C3AE4A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220813" y="876692"/>
            <a:ext cx="7663858" cy="54796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40C39B1-434A-9E4C-A92B-2C6F61348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A9ABDE6-F26C-4589-9FF5-7FFDDB9572E4}" type="slidenum">
              <a:rPr lang="ko-KR" alt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3</a:t>
            </a:fld>
            <a:endParaRPr lang="ko-KR" alt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pSp>
        <p:nvGrpSpPr>
          <p:cNvPr id="1031" name="Group 1030">
            <a:extLst>
              <a:ext uri="{FF2B5EF4-FFF2-40B4-BE49-F238E27FC236}">
                <a16:creationId xmlns:a16="http://schemas.microsoft.com/office/drawing/2014/main" id="{6258F736-B256-8039-9DC6-F4E49A5C5A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1032" name="Rectangle 1031">
              <a:extLst>
                <a:ext uri="{FF2B5EF4-FFF2-40B4-BE49-F238E27FC236}">
                  <a16:creationId xmlns:a16="http://schemas.microsoft.com/office/drawing/2014/main" id="{10B4520A-996E-330C-99DA-69CA4D89E9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3" name="Rectangle 1032">
              <a:extLst>
                <a:ext uri="{FF2B5EF4-FFF2-40B4-BE49-F238E27FC236}">
                  <a16:creationId xmlns:a16="http://schemas.microsoft.com/office/drawing/2014/main" id="{EC8FA945-E356-695F-18D6-CAD4EF34FE4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0991606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CA8F93-7A78-0240-56FA-0CF141FA0E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Supervised Learning (</a:t>
            </a:r>
            <a:r>
              <a:rPr lang="ko-KR" altLang="en-US" dirty="0"/>
              <a:t>지도 학습</a:t>
            </a:r>
            <a:r>
              <a:rPr lang="en-US" altLang="ko-KR" dirty="0"/>
              <a:t>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022236C-3C6E-9299-04E2-0F472D0994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Dataset: </a:t>
                </a:r>
                <a14:m>
                  <m:oMath xmlns:m="http://schemas.openxmlformats.org/officeDocument/2006/math"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𝒟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,…,(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altLang="ko-KR" dirty="0"/>
              </a:p>
              <a:p>
                <a:r>
                  <a:rPr lang="en-US" altLang="ko-KR" dirty="0"/>
                  <a:t>Goal: Learn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022236C-3C6E-9299-04E2-0F472D0994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9" t="-15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1FECE5E-F0D7-DB59-6C15-4CB9001B94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4</a:t>
            </a:fld>
            <a:endParaRPr lang="ko-KR" altLang="en-US"/>
          </a:p>
        </p:txBody>
      </p:sp>
      <p:sp>
        <p:nvSpPr>
          <p:cNvPr id="8" name="말풍선: 모서리가 둥근 사각형 7">
            <a:extLst>
              <a:ext uri="{FF2B5EF4-FFF2-40B4-BE49-F238E27FC236}">
                <a16:creationId xmlns:a16="http://schemas.microsoft.com/office/drawing/2014/main" id="{97EE4BC2-AA8F-53D5-F516-FB0B68D367A7}"/>
              </a:ext>
            </a:extLst>
          </p:cNvPr>
          <p:cNvSpPr/>
          <p:nvPr/>
        </p:nvSpPr>
        <p:spPr>
          <a:xfrm>
            <a:off x="4117513" y="1842865"/>
            <a:ext cx="1138136" cy="612843"/>
          </a:xfrm>
          <a:prstGeom prst="wedgeRoundRectCallout">
            <a:avLst>
              <a:gd name="adj1" fmla="val 48398"/>
              <a:gd name="adj2" fmla="val -116864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/>
              <a:t>Input</a:t>
            </a:r>
            <a:endParaRPr lang="ko-KR" altLang="en-US" dirty="0"/>
          </a:p>
        </p:txBody>
      </p:sp>
      <p:sp>
        <p:nvSpPr>
          <p:cNvPr id="9" name="말풍선: 모서리가 둥근 사각형 8">
            <a:extLst>
              <a:ext uri="{FF2B5EF4-FFF2-40B4-BE49-F238E27FC236}">
                <a16:creationId xmlns:a16="http://schemas.microsoft.com/office/drawing/2014/main" id="{04EEA90A-4059-FF10-6BB9-EDC107BFE997}"/>
              </a:ext>
            </a:extLst>
          </p:cNvPr>
          <p:cNvSpPr/>
          <p:nvPr/>
        </p:nvSpPr>
        <p:spPr>
          <a:xfrm>
            <a:off x="5401561" y="1842865"/>
            <a:ext cx="1138136" cy="612843"/>
          </a:xfrm>
          <a:prstGeom prst="wedgeRoundRectCallout">
            <a:avLst>
              <a:gd name="adj1" fmla="val -20833"/>
              <a:gd name="adj2" fmla="val -124801"/>
              <a:gd name="adj3" fmla="val 1666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/>
              <a:t>Label</a:t>
            </a:r>
            <a:endParaRPr lang="ko-KR" altLang="en-US" dirty="0"/>
          </a:p>
        </p:txBody>
      </p:sp>
      <p:pic>
        <p:nvPicPr>
          <p:cNvPr id="11" name="그림 10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B66E3FE-2FBC-B55C-B7B2-A764EF03C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54035" y="2455708"/>
            <a:ext cx="2859127" cy="4183577"/>
          </a:xfrm>
          <a:prstGeom prst="rect">
            <a:avLst/>
          </a:prstGeom>
        </p:spPr>
      </p:pic>
      <p:pic>
        <p:nvPicPr>
          <p:cNvPr id="13" name="그림 12" descr="텍스트, 폰트, 스크린샷, 화이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C88D390-9D40-F6F5-17DE-DCA463036F4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4556" y="2455708"/>
            <a:ext cx="2943220" cy="4183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7180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14985E-875B-D8A9-B188-62D527D30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D8181F-3FA3-B54D-31A3-84626BC96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Supervised Learning (</a:t>
            </a:r>
            <a:r>
              <a:rPr lang="ko-KR" altLang="en-US" dirty="0"/>
              <a:t>지도 학습</a:t>
            </a:r>
            <a:r>
              <a:rPr lang="en-US" altLang="ko-KR" dirty="0"/>
              <a:t>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68EDCDE-EF0A-BFBF-5A6F-16AC3BF431E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Dataset: </a:t>
                </a:r>
                <a14:m>
                  <m:oMath xmlns:m="http://schemas.openxmlformats.org/officeDocument/2006/math"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𝒟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,…,(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altLang="ko-KR" dirty="0"/>
              </a:p>
              <a:p>
                <a:r>
                  <a:rPr lang="en-US" altLang="ko-KR" dirty="0"/>
                  <a:t>Goal: Learn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altLang="ko-KR" dirty="0"/>
              </a:p>
              <a:p>
                <a:r>
                  <a:rPr lang="en-US" altLang="ko-KR" dirty="0"/>
                  <a:t>Examples: Regression (</a:t>
                </a:r>
                <a:r>
                  <a:rPr lang="ko-KR" altLang="en-US" dirty="0"/>
                  <a:t>회귀</a:t>
                </a:r>
                <a:r>
                  <a:rPr lang="en-US" altLang="ko-KR" dirty="0"/>
                  <a:t>), Classification (</a:t>
                </a:r>
                <a:r>
                  <a:rPr lang="ko-KR" altLang="en-US" dirty="0"/>
                  <a:t>분류</a:t>
                </a:r>
                <a:r>
                  <a:rPr lang="en-US" altLang="ko-KR" dirty="0"/>
                  <a:t>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068EDCDE-EF0A-BFBF-5A6F-16AC3BF431E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9" t="-15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08055AA-B34E-1E7A-3736-18FF24F1A1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63010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1B1749-E12A-2375-A852-9A52770974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C4179AB-A652-1CC7-22C2-2E203962F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Supervised Learning (</a:t>
            </a:r>
            <a:r>
              <a:rPr lang="ko-KR" altLang="en-US"/>
              <a:t>지도 학습</a:t>
            </a:r>
            <a:r>
              <a:rPr lang="en-US" altLang="ko-KR"/>
              <a:t>) – Regression (</a:t>
            </a:r>
            <a:r>
              <a:rPr lang="ko-KR" altLang="en-US"/>
              <a:t>회귀</a:t>
            </a:r>
            <a:r>
              <a:rPr lang="en-US" altLang="ko-KR"/>
              <a:t>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14F2AA7-89E2-EBCE-3C68-286F5BF9B4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Dataset: </a:t>
                </a:r>
                <a14:m>
                  <m:oMath xmlns:m="http://schemas.openxmlformats.org/officeDocument/2006/math"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𝒟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,…,(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altLang="ko-KR" dirty="0"/>
              </a:p>
              <a:p>
                <a:r>
                  <a:rPr lang="en-US" altLang="ko-KR" dirty="0"/>
                  <a:t>Goal: Learn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altLang="ko-KR" dirty="0"/>
              </a:p>
              <a:p>
                <a:r>
                  <a:rPr lang="en-US" altLang="ko-KR" dirty="0"/>
                  <a:t>Find a fitted function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14F2AA7-89E2-EBCE-3C68-286F5BF9B4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9" t="-15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AC4BDD-9E98-9D97-04F5-E8259FB69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6</a:t>
            </a:fld>
            <a:endParaRPr lang="ko-KR" altLang="en-US"/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395EEDD8-957C-B351-8FD1-8D778DD12DD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0348851"/>
              </p:ext>
            </p:extLst>
          </p:nvPr>
        </p:nvGraphicFramePr>
        <p:xfrm>
          <a:off x="1618981" y="3049729"/>
          <a:ext cx="8128000" cy="1483360"/>
        </p:xfrm>
        <a:graphic>
          <a:graphicData uri="http://schemas.openxmlformats.org/drawingml/2006/table">
            <a:tbl>
              <a:tblPr firstRow="1" bandRow="1">
                <a:tableStyleId>{ED083AE6-46FA-4A59-8FB0-9F97EB10719F}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95365697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152027179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3036914046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386611422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6962609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환자 </a:t>
                      </a:r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ID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몸무게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흡연여부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기대수명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13144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60 kg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5.5 ft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66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29505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2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65 kg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5.0 ft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0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74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487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3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55 kg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6.0 ft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1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>
                          <a:latin typeface="Calibri" panose="020F0502020204030204" pitchFamily="34" charset="0"/>
                          <a:cs typeface="Calibri" panose="020F0502020204030204" pitchFamily="34" charset="0"/>
                        </a:rPr>
                        <a:t>78</a:t>
                      </a:r>
                      <a:endParaRPr lang="ko-KR" altLang="en-US" dirty="0">
                        <a:latin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6502107"/>
                  </a:ext>
                </a:extLst>
              </a:tr>
            </a:tbl>
          </a:graphicData>
        </a:graphic>
      </p:graphicFrame>
      <p:sp>
        <p:nvSpPr>
          <p:cNvPr id="6" name="왼쪽 중괄호 5">
            <a:extLst>
              <a:ext uri="{FF2B5EF4-FFF2-40B4-BE49-F238E27FC236}">
                <a16:creationId xmlns:a16="http://schemas.microsoft.com/office/drawing/2014/main" id="{3822787F-EDB0-29C2-1750-D267954D5468}"/>
              </a:ext>
            </a:extLst>
          </p:cNvPr>
          <p:cNvSpPr/>
          <p:nvPr/>
        </p:nvSpPr>
        <p:spPr>
          <a:xfrm rot="16200000">
            <a:off x="5356677" y="2580875"/>
            <a:ext cx="652609" cy="4873560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왼쪽 중괄호 6">
            <a:extLst>
              <a:ext uri="{FF2B5EF4-FFF2-40B4-BE49-F238E27FC236}">
                <a16:creationId xmlns:a16="http://schemas.microsoft.com/office/drawing/2014/main" id="{58BC1818-C799-8C87-F1FA-80B525FA2A3E}"/>
              </a:ext>
            </a:extLst>
          </p:cNvPr>
          <p:cNvSpPr/>
          <p:nvPr/>
        </p:nvSpPr>
        <p:spPr>
          <a:xfrm rot="16200000">
            <a:off x="8606679" y="4204046"/>
            <a:ext cx="652609" cy="1627219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9" name="그림 8" descr="훅, 흑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EBE34AF-E211-C451-BEDE-588EFC6457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1390" y="5363725"/>
            <a:ext cx="874610" cy="945524"/>
          </a:xfrm>
          <a:prstGeom prst="rect">
            <a:avLst/>
          </a:prstGeom>
        </p:spPr>
      </p:pic>
      <p:pic>
        <p:nvPicPr>
          <p:cNvPr id="11" name="그림 10" descr="훅, 서예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D8A020DD-B96E-075A-0C6D-53C2B9B070A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92070" y="5458260"/>
            <a:ext cx="788043" cy="985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9222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7B5477-0D56-28C3-14E0-7B13AE1A54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524236-852E-C53A-9058-C3E0C14DCA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Supervised Learning (</a:t>
            </a:r>
            <a:r>
              <a:rPr lang="ko-KR" altLang="en-US"/>
              <a:t>지도 학습</a:t>
            </a:r>
            <a:r>
              <a:rPr lang="en-US" altLang="ko-KR"/>
              <a:t>) – Regression (</a:t>
            </a:r>
            <a:r>
              <a:rPr lang="ko-KR" altLang="en-US"/>
              <a:t>회귀</a:t>
            </a:r>
            <a:r>
              <a:rPr lang="en-US" altLang="ko-KR"/>
              <a:t>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2DB2421-AE95-1B81-41A5-D932990E54C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Dataset: </a:t>
                </a:r>
                <a14:m>
                  <m:oMath xmlns:m="http://schemas.openxmlformats.org/officeDocument/2006/math"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𝒟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,…,(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altLang="ko-KR" dirty="0"/>
              </a:p>
              <a:p>
                <a:r>
                  <a:rPr lang="en-US" altLang="ko-KR" dirty="0"/>
                  <a:t>Goal: Learn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altLang="ko-KR" dirty="0"/>
              </a:p>
              <a:p>
                <a:r>
                  <a:rPr lang="en-US" altLang="ko-KR" dirty="0"/>
                  <a:t>Find a fitted function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/>
                  <a:t> for continuous outputs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2DB2421-AE95-1B81-41A5-D932990E54C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9" t="-15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79C9A3C-BA88-3379-8EED-EF3FF289D5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7</a:t>
            </a:fld>
            <a:endParaRPr lang="ko-KR" altLang="en-US"/>
          </a:p>
        </p:txBody>
      </p:sp>
      <p:pic>
        <p:nvPicPr>
          <p:cNvPr id="2050" name="Picture 2" descr="Curve Fitting using Linear and Nonlinear Regression - GeeksforGeeks">
            <a:extLst>
              <a:ext uri="{FF2B5EF4-FFF2-40B4-BE49-F238E27FC236}">
                <a16:creationId xmlns:a16="http://schemas.microsoft.com/office/drawing/2014/main" id="{FCF0EDF1-B3CD-D592-B4EE-39181C2B65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7303" y="2448561"/>
            <a:ext cx="4788938" cy="38160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rinciples of Non-linear Feature Engineering | EE499">
            <a:extLst>
              <a:ext uri="{FF2B5EF4-FFF2-40B4-BE49-F238E27FC236}">
                <a16:creationId xmlns:a16="http://schemas.microsoft.com/office/drawing/2014/main" id="{E0F332ED-634F-E95A-7851-74515EE8DA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1837" y="2636196"/>
            <a:ext cx="6201052" cy="31005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464079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E83AD8-8946-946F-9972-77CF203A68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FE90B8E-0BB1-160C-339E-F4FCD7533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Supervised Learning (</a:t>
            </a:r>
            <a:r>
              <a:rPr lang="ko-KR" altLang="en-US"/>
              <a:t>지도 학습</a:t>
            </a:r>
            <a:r>
              <a:rPr lang="en-US" altLang="ko-KR"/>
              <a:t>) – Classification (</a:t>
            </a:r>
            <a:r>
              <a:rPr lang="ko-KR" altLang="en-US"/>
              <a:t>분류</a:t>
            </a:r>
            <a:r>
              <a:rPr lang="en-US" altLang="ko-KR"/>
              <a:t>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B31A5F6-AE97-8B5F-A3DA-DE891B07AB2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Dataset: </a:t>
                </a:r>
                <a14:m>
                  <m:oMath xmlns:m="http://schemas.openxmlformats.org/officeDocument/2006/math">
                    <m:r>
                      <a:rPr lang="ko-KR" altLang="en-US" b="0" i="1" smtClean="0">
                        <a:latin typeface="Cambria Math" panose="02040503050406030204" pitchFamily="18" charset="0"/>
                      </a:rPr>
                      <m:t>𝒟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,…,(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altLang="ko-KR" dirty="0"/>
              </a:p>
              <a:p>
                <a:r>
                  <a:rPr lang="en-US" altLang="ko-KR" dirty="0"/>
                  <a:t>Goal: Learn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altLang="ko-KR" dirty="0"/>
              </a:p>
              <a:p>
                <a:r>
                  <a:rPr lang="en-US" altLang="ko-KR" dirty="0"/>
                  <a:t>Find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a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decision boundary that separates classes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7B31A5F6-AE97-8B5F-A3DA-DE891B07AB2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9" t="-15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0985600-AC5A-EA25-3ED3-ACD83B305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8</a:t>
            </a:fld>
            <a:endParaRPr lang="ko-KR" altLang="en-US"/>
          </a:p>
        </p:txBody>
      </p:sp>
      <p:pic>
        <p:nvPicPr>
          <p:cNvPr id="4100" name="Picture 4" descr="Cute Dog White Background Images – Browse 1,823,782 Stock Photos, Vectors,  and Video | Adobe Stock">
            <a:extLst>
              <a:ext uri="{FF2B5EF4-FFF2-40B4-BE49-F238E27FC236}">
                <a16:creationId xmlns:a16="http://schemas.microsoft.com/office/drawing/2014/main" id="{9ADB7656-83BB-C916-9F76-CAD7CC1B4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15096" y="2591509"/>
            <a:ext cx="3750905" cy="24960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 descr="블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40E0028-95BD-AEF5-9268-7C9897B242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5251" y="2949462"/>
            <a:ext cx="1756298" cy="2138104"/>
          </a:xfrm>
          <a:prstGeom prst="rect">
            <a:avLst/>
          </a:prstGeom>
        </p:spPr>
      </p:pic>
      <p:pic>
        <p:nvPicPr>
          <p:cNvPr id="7" name="그림 6" descr="훅, 흑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3AB9E07-1D7F-5B86-7DDB-CB29E27779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8693" y="3545752"/>
            <a:ext cx="874610" cy="945524"/>
          </a:xfrm>
          <a:prstGeom prst="rect">
            <a:avLst/>
          </a:prstGeom>
        </p:spPr>
      </p:pic>
      <p:pic>
        <p:nvPicPr>
          <p:cNvPr id="8" name="그림 7" descr="훅, 흑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7F81FC7-8628-042D-6A5E-F8C889A5F88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7218" y="3545752"/>
            <a:ext cx="874610" cy="945524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C4AE9E9-8811-D4E2-B921-AB0D3348A2AF}"/>
                  </a:ext>
                </a:extLst>
              </p:cNvPr>
              <p:cNvSpPr txBox="1"/>
              <p:nvPr/>
            </p:nvSpPr>
            <p:spPr>
              <a:xfrm>
                <a:off x="1615096" y="5146433"/>
                <a:ext cx="293775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4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ko-KR" sz="4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4800" b="1" i="0" smtClean="0">
                          <a:latin typeface="Cambria Math" panose="02040503050406030204" pitchFamily="18" charset="0"/>
                        </a:rPr>
                        <m:t>𝐝𝐨𝐠</m:t>
                      </m:r>
                    </m:oMath>
                  </m:oMathPara>
                </a14:m>
                <a:endParaRPr lang="ko-KR" altLang="en-US" sz="4800" b="1" dirty="0"/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C4AE9E9-8811-D4E2-B921-AB0D3348A2A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15096" y="5146433"/>
                <a:ext cx="2937753" cy="83099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24176B-FD9A-463E-A6CB-B99E5B733E3A}"/>
                  </a:ext>
                </a:extLst>
              </p:cNvPr>
              <p:cNvSpPr txBox="1"/>
              <p:nvPr/>
            </p:nvSpPr>
            <p:spPr>
              <a:xfrm>
                <a:off x="6884523" y="5158701"/>
                <a:ext cx="2937753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48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en-US" altLang="ko-KR" sz="4800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4800" b="1" i="0" smtClean="0">
                          <a:latin typeface="Cambria Math" panose="02040503050406030204" pitchFamily="18" charset="0"/>
                        </a:rPr>
                        <m:t>𝟑</m:t>
                      </m:r>
                    </m:oMath>
                  </m:oMathPara>
                </a14:m>
                <a:endParaRPr lang="ko-KR" altLang="en-US" sz="4800" b="1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E124176B-FD9A-463E-A6CB-B99E5B733E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4523" y="5158701"/>
                <a:ext cx="2937753" cy="83099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357150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89FFA0-F519-5AED-0E88-238BC4969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Unsupervised Learning (</a:t>
            </a:r>
            <a:r>
              <a:rPr lang="ko-KR" altLang="en-US" dirty="0"/>
              <a:t>비지도 학습</a:t>
            </a:r>
            <a:r>
              <a:rPr lang="en-US" altLang="ko-KR" dirty="0"/>
              <a:t>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9780E1D-0D55-A7A6-0753-43B67A096E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Dataset: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𝒟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ko-KR" altLang="en-US" dirty="0"/>
                  <a:t>             </a:t>
                </a:r>
                <a:r>
                  <a:rPr lang="en-US" altLang="ko-KR" dirty="0"/>
                  <a:t>No labels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dirty="0"/>
                  <a:t>!</a:t>
                </a:r>
              </a:p>
              <a:p>
                <a:r>
                  <a:rPr lang="en-US" altLang="ko-KR" dirty="0"/>
                  <a:t>Goal: Discover hidden structure in data</a:t>
                </a:r>
                <a:endParaRPr lang="en-US" altLang="ko-KR" b="0" dirty="0"/>
              </a:p>
              <a:p>
                <a:r>
                  <a:rPr lang="en-US" altLang="ko-KR" dirty="0"/>
                  <a:t>Examples: Clustering, Dimensionality Reduction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9780E1D-0D55-A7A6-0753-43B67A096E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9" t="-15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C97B601-32D0-6762-37B0-DBD886D589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02132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ACF1F-CA05-429B-3C67-D8B04C935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CE581D-646E-57D1-B65A-8A801055F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Unsupervised Learning (</a:t>
            </a:r>
            <a:r>
              <a:rPr lang="ko-KR" altLang="en-US" dirty="0"/>
              <a:t>비지도 학습</a:t>
            </a:r>
            <a:r>
              <a:rPr lang="en-US" altLang="ko-KR" dirty="0"/>
              <a:t>) – Clustering (</a:t>
            </a:r>
            <a:r>
              <a:rPr lang="ko-KR" altLang="en-US" dirty="0"/>
              <a:t>군집화</a:t>
            </a:r>
            <a:r>
              <a:rPr lang="en-US" altLang="ko-KR" dirty="0"/>
              <a:t>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50D840B-370C-324B-F98B-1E768526BD7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Dataset: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𝒟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ko-KR" altLang="en-US" dirty="0"/>
                  <a:t>             </a:t>
                </a:r>
                <a:r>
                  <a:rPr lang="en-US" altLang="ko-KR" dirty="0"/>
                  <a:t>No labels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dirty="0"/>
                  <a:t>!</a:t>
                </a:r>
              </a:p>
              <a:p>
                <a:r>
                  <a:rPr lang="en-US" altLang="ko-KR" dirty="0"/>
                  <a:t>Goal: Discover hidden structure in data</a:t>
                </a:r>
              </a:p>
              <a:p>
                <a:r>
                  <a:rPr lang="en-US" altLang="ko-KR" dirty="0"/>
                  <a:t>Find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groups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of similar data points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50D840B-370C-324B-F98B-1E768526BD7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9" t="-15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BE44BCD-C225-99D2-6CF5-57B9DA0541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10</a:t>
            </a:fld>
            <a:endParaRPr lang="ko-KR" altLang="en-US"/>
          </a:p>
        </p:txBody>
      </p:sp>
      <p:pic>
        <p:nvPicPr>
          <p:cNvPr id="5122" name="Picture 2" descr="What is clustering? | Machine Learning | Google for Developers">
            <a:extLst>
              <a:ext uri="{FF2B5EF4-FFF2-40B4-BE49-F238E27FC236}">
                <a16:creationId xmlns:a16="http://schemas.microsoft.com/office/drawing/2014/main" id="{C86EE389-8C9C-A32D-BF44-641F754113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7153" y="2330450"/>
            <a:ext cx="7724775" cy="4391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102191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776019-909B-141E-B235-3338C1FE3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9D5EC6-E424-61D0-B603-CD9CABF823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pc="-100"/>
              <a:t>Unsupervised Learning (</a:t>
            </a:r>
            <a:r>
              <a:rPr lang="ko-KR" altLang="en-US" spc="-100"/>
              <a:t>비지도 학습</a:t>
            </a:r>
            <a:r>
              <a:rPr lang="en-US" altLang="ko-KR" spc="-100"/>
              <a:t>) – Dimensionality Reduction (</a:t>
            </a:r>
            <a:r>
              <a:rPr lang="ko-KR" altLang="en-US" spc="-100"/>
              <a:t>차원 축소</a:t>
            </a:r>
            <a:r>
              <a:rPr lang="en-US" altLang="ko-KR" spc="-100"/>
              <a:t>)</a:t>
            </a:r>
            <a:endParaRPr lang="ko-KR" altLang="en-US" spc="-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1C9CC90-D1C2-CCA2-0711-33131A4A806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Dataset: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𝒟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ko-KR" altLang="en-US" dirty="0"/>
                  <a:t>             </a:t>
                </a:r>
                <a:r>
                  <a:rPr lang="en-US" altLang="ko-KR" dirty="0"/>
                  <a:t>No labels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dirty="0"/>
                  <a:t>!</a:t>
                </a:r>
              </a:p>
              <a:p>
                <a:r>
                  <a:rPr lang="en-US" altLang="ko-KR" dirty="0"/>
                  <a:t>Goal: Discover hidden structure in data</a:t>
                </a:r>
              </a:p>
              <a:p>
                <a:r>
                  <a:rPr lang="en-US" altLang="ko-KR" dirty="0"/>
                  <a:t>Find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low-dimensional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representations (e.g. Autoencoder)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1C9CC90-D1C2-CCA2-0711-33131A4A806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9" t="-15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33B52E1-574B-0FD9-D8E8-E0363D2DD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11</a:t>
            </a:fld>
            <a:endParaRPr lang="ko-KR" altLang="en-US"/>
          </a:p>
        </p:txBody>
      </p:sp>
      <p:pic>
        <p:nvPicPr>
          <p:cNvPr id="6146" name="Picture 2" descr="Implementing and Visualizing a Simple Autoencoder on the MNIST Dataset | by  Rhythm Bhavsar | Medium">
            <a:extLst>
              <a:ext uri="{FF2B5EF4-FFF2-40B4-BE49-F238E27FC236}">
                <a16:creationId xmlns:a16="http://schemas.microsoft.com/office/drawing/2014/main" id="{44094635-A0D6-D7EB-1888-369B99FDBE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609" y="2908607"/>
            <a:ext cx="11706781" cy="367927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3BC0C052-D6CB-1AB1-2413-F91ACB600307}"/>
              </a:ext>
            </a:extLst>
          </p:cNvPr>
          <p:cNvSpPr/>
          <p:nvPr/>
        </p:nvSpPr>
        <p:spPr>
          <a:xfrm>
            <a:off x="4582633" y="2605579"/>
            <a:ext cx="2562446" cy="6060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/>
              <a:t>Autoencoder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590836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114243-45B3-9682-D071-D23A25A11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E16E2E6-6347-5716-1BEC-C0253177A5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ko-KR" spc="-100"/>
              <a:t>Unsupervised Learning (</a:t>
            </a:r>
            <a:r>
              <a:rPr lang="ko-KR" altLang="en-US" spc="-100"/>
              <a:t>비지도 학습</a:t>
            </a:r>
            <a:r>
              <a:rPr lang="en-US" altLang="ko-KR" spc="-100"/>
              <a:t>) – Dimensionality Reduction (</a:t>
            </a:r>
            <a:r>
              <a:rPr lang="ko-KR" altLang="en-US" spc="-100"/>
              <a:t>차원 축소</a:t>
            </a:r>
            <a:r>
              <a:rPr lang="en-US" altLang="ko-KR" spc="-100"/>
              <a:t>)</a:t>
            </a:r>
            <a:endParaRPr lang="ko-KR" altLang="en-US" spc="-1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6889F02-8A83-9941-7D87-8D02698E272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Dataset: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𝒟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,…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ko-KR" altLang="en-US" dirty="0"/>
                  <a:t>             </a:t>
                </a:r>
                <a:r>
                  <a:rPr lang="en-US" altLang="ko-KR" dirty="0"/>
                  <a:t>No labels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dirty="0"/>
                  <a:t>!</a:t>
                </a:r>
              </a:p>
              <a:p>
                <a:r>
                  <a:rPr lang="en-US" altLang="ko-KR" dirty="0"/>
                  <a:t>Goal: Discover hidden structure in data</a:t>
                </a:r>
              </a:p>
              <a:p>
                <a:r>
                  <a:rPr lang="en-US" altLang="ko-KR" dirty="0"/>
                  <a:t>Find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low-dimensional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representations (e.g. Autoencoder)</a:t>
                </a:r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Application: Anomaly Detection (</a:t>
                </a:r>
                <a:r>
                  <a:rPr lang="ko-KR" altLang="en-US" dirty="0"/>
                  <a:t>이상 탐지</a:t>
                </a:r>
                <a:r>
                  <a:rPr lang="en-US" altLang="ko-KR" dirty="0"/>
                  <a:t>)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6889F02-8A83-9941-7D87-8D02698E272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9" t="-15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84FEA29-EC44-B0A7-F0DC-B8BC2E2B2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12</a:t>
            </a:fld>
            <a:endParaRPr lang="ko-KR" altLang="en-US"/>
          </a:p>
        </p:txBody>
      </p:sp>
      <p:pic>
        <p:nvPicPr>
          <p:cNvPr id="6" name="그림 5" descr="텍스트, 흑백, 스크린샷, 블랙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4B5B0B2-ABB2-DB43-DE47-5B938CBC97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3598" y="3891910"/>
            <a:ext cx="7992586" cy="261439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97EE684-03D2-7AD6-9AEF-5265642EA68B}"/>
              </a:ext>
            </a:extLst>
          </p:cNvPr>
          <p:cNvSpPr txBox="1"/>
          <p:nvPr/>
        </p:nvSpPr>
        <p:spPr>
          <a:xfrm>
            <a:off x="440667" y="4348717"/>
            <a:ext cx="324293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dirty="0"/>
              <a:t>1: Normal data</a:t>
            </a:r>
          </a:p>
          <a:p>
            <a:r>
              <a:rPr lang="en-US" altLang="ko-KR" sz="3200" dirty="0"/>
              <a:t>9: Anomaly data</a:t>
            </a:r>
            <a:endParaRPr lang="ko-KR" altLang="en-US" sz="3200" dirty="0"/>
          </a:p>
        </p:txBody>
      </p:sp>
      <p:sp>
        <p:nvSpPr>
          <p:cNvPr id="9" name="사각형: 둥근 모서리 8">
            <a:extLst>
              <a:ext uri="{FF2B5EF4-FFF2-40B4-BE49-F238E27FC236}">
                <a16:creationId xmlns:a16="http://schemas.microsoft.com/office/drawing/2014/main" id="{E770E1D8-B46C-2FE7-1570-20D004E6A929}"/>
              </a:ext>
            </a:extLst>
          </p:cNvPr>
          <p:cNvSpPr/>
          <p:nvPr/>
        </p:nvSpPr>
        <p:spPr>
          <a:xfrm>
            <a:off x="6398668" y="3206724"/>
            <a:ext cx="2562446" cy="606055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000" dirty="0"/>
              <a:t>Autoencoder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336782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E9BA6C-B18B-7FE7-3CFE-3CD2DFB25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Reinforcement Learning (</a:t>
            </a:r>
            <a:r>
              <a:rPr lang="ko-KR" altLang="en-US" dirty="0"/>
              <a:t>강화 학습</a:t>
            </a:r>
            <a:r>
              <a:rPr lang="en-US" altLang="ko-KR" dirty="0"/>
              <a:t>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3BE7A70-10AA-CAC0-07D3-ABCD6807D2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Agent</a:t>
                </a:r>
                <a:r>
                  <a:rPr lang="ko-KR" altLang="en-US" dirty="0"/>
                  <a:t>가 </a:t>
                </a:r>
                <a:r>
                  <a:rPr lang="en-US" altLang="ko-KR" dirty="0"/>
                  <a:t>Environment</a:t>
                </a:r>
                <a:r>
                  <a:rPr lang="ko-KR" altLang="en-US" dirty="0"/>
                  <a:t>와 상호작용</a:t>
                </a:r>
                <a:endParaRPr lang="en-US" altLang="ko-KR" dirty="0"/>
              </a:p>
              <a:p>
                <a:r>
                  <a:rPr lang="en-US" altLang="ko-KR" dirty="0"/>
                  <a:t>Goal: Maximize cumulative reward</a:t>
                </a:r>
              </a:p>
              <a:p>
                <a:r>
                  <a:rPr lang="en-US" altLang="ko-KR" dirty="0"/>
                  <a:t>Find an optimal policy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3BE7A70-10AA-CAC0-07D3-ABCD6807D2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9" t="-18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4622517-00B9-2050-4C06-BC0305388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13</a:t>
            </a:fld>
            <a:endParaRPr lang="ko-KR" altLang="en-US"/>
          </a:p>
        </p:txBody>
      </p:sp>
      <p:pic>
        <p:nvPicPr>
          <p:cNvPr id="7170" name="Picture 2" descr="An introduction to Reinforcement Learning | Reinforcement ...">
            <a:extLst>
              <a:ext uri="{FF2B5EF4-FFF2-40B4-BE49-F238E27FC236}">
                <a16:creationId xmlns:a16="http://schemas.microsoft.com/office/drawing/2014/main" id="{D1D8DC72-6E8A-2A2D-1352-5E65C64693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650" y="2889176"/>
            <a:ext cx="8648700" cy="33337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448245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C49DA4-C2E7-D73D-86DA-894AF8EC6C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B430FB-3279-5237-D4FF-116A21CD4B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Reinforcement Learning (</a:t>
            </a:r>
            <a:r>
              <a:rPr lang="ko-KR" altLang="en-US" dirty="0"/>
              <a:t>강화 학습</a:t>
            </a:r>
            <a:r>
              <a:rPr lang="en-US" altLang="ko-KR" dirty="0"/>
              <a:t>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49AB95D-EC30-A83C-81F5-3E6A87EA307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Agent</a:t>
                </a:r>
                <a:r>
                  <a:rPr lang="ko-KR" altLang="en-US" dirty="0"/>
                  <a:t>가 </a:t>
                </a:r>
                <a:r>
                  <a:rPr lang="en-US" altLang="ko-KR" dirty="0"/>
                  <a:t>Environment</a:t>
                </a:r>
                <a:r>
                  <a:rPr lang="ko-KR" altLang="en-US" dirty="0"/>
                  <a:t>와 상호작용</a:t>
                </a:r>
                <a:endParaRPr lang="en-US" altLang="ko-KR" dirty="0"/>
              </a:p>
              <a:p>
                <a:r>
                  <a:rPr lang="en-US" altLang="ko-KR" dirty="0"/>
                  <a:t>Goal: Maximize cumulative reward</a:t>
                </a:r>
              </a:p>
              <a:p>
                <a:r>
                  <a:rPr lang="en-US" altLang="ko-KR" dirty="0"/>
                  <a:t>Find an optimal policy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Agent: AlphaGo</a:t>
                </a:r>
              </a:p>
              <a:p>
                <a:r>
                  <a:rPr lang="en-US" altLang="ko-KR" dirty="0"/>
                  <a:t>State: </a:t>
                </a:r>
                <a:r>
                  <a:rPr lang="ko-KR" altLang="en-US" dirty="0"/>
                  <a:t>현재 바둑판 상태</a:t>
                </a:r>
                <a:endParaRPr lang="en-US" altLang="ko-KR" dirty="0"/>
              </a:p>
              <a:p>
                <a:r>
                  <a:rPr lang="en-US" altLang="ko-KR" dirty="0"/>
                  <a:t>Action: </a:t>
                </a:r>
                <a:r>
                  <a:rPr lang="ko-KR" altLang="en-US" dirty="0"/>
                  <a:t>특정 위치에 바둑돌 놓기</a:t>
                </a:r>
                <a:endParaRPr lang="en-US" altLang="ko-KR" dirty="0"/>
              </a:p>
              <a:p>
                <a:r>
                  <a:rPr lang="en-US" altLang="ko-KR" dirty="0"/>
                  <a:t>Reward</a:t>
                </a:r>
              </a:p>
              <a:p>
                <a:pPr lvl="1"/>
                <a:r>
                  <a:rPr lang="en-US" altLang="ko-KR" dirty="0"/>
                  <a:t>Win: +10</a:t>
                </a:r>
              </a:p>
              <a:p>
                <a:pPr lvl="1"/>
                <a:r>
                  <a:rPr lang="en-US" altLang="ko-KR" dirty="0"/>
                  <a:t>Lose: -10</a:t>
                </a:r>
              </a:p>
              <a:p>
                <a:pPr lvl="1"/>
                <a:r>
                  <a:rPr lang="en-US" altLang="ko-KR" dirty="0"/>
                  <a:t>Each move: -0.1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49AB95D-EC30-A83C-81F5-3E6A87EA307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9" t="-18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D7D5D2C-A380-BB41-4F75-BBA960D4BC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14</a:t>
            </a:fld>
            <a:endParaRPr lang="ko-KR" altLang="en-US"/>
          </a:p>
        </p:txBody>
      </p:sp>
      <p:pic>
        <p:nvPicPr>
          <p:cNvPr id="9218" name="Picture 2" descr="Reinforcement Learning： Super Mario, AlphaGo and beyond | SunJackson Blog">
            <a:extLst>
              <a:ext uri="{FF2B5EF4-FFF2-40B4-BE49-F238E27FC236}">
                <a16:creationId xmlns:a16="http://schemas.microsoft.com/office/drawing/2014/main" id="{CF90C99D-4C29-57D4-175C-CA1E3F562F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19342" y="2494346"/>
            <a:ext cx="7272658" cy="40935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21716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3FBE44D-EF43-2797-9910-680C475DD4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Supervised Learning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56662EA-4C09-204F-8A26-E04EABCDB55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(</a:t>
            </a:r>
            <a:r>
              <a:rPr lang="ko-KR" altLang="en-US" dirty="0"/>
              <a:t>지도 학습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4111306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DEB6E04-5C5D-0CFA-2430-B16F9A3BE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Loss Function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4983F47-F0DD-B72C-5F13-21C3940B19B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2899" y="967154"/>
                <a:ext cx="11756952" cy="5380892"/>
              </a:xfrm>
            </p:spPr>
            <p:txBody>
              <a:bodyPr/>
              <a:lstStyle/>
              <a:p>
                <a:r>
                  <a:rPr lang="en-US" altLang="ko-KR" dirty="0"/>
                  <a:t>Goal: 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Learn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altLang="ko-KR" i="1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US" altLang="ko-KR" dirty="0"/>
                  <a:t>    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⇐</m:t>
                    </m:r>
                  </m:oMath>
                </a14:m>
                <a:r>
                  <a:rPr lang="ko-KR" altLang="en-US" dirty="0"/>
                  <a:t> 컴퓨터가 이해하지 못함</a:t>
                </a:r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Loss function: </a:t>
                </a:r>
                <a:r>
                  <a:rPr lang="ko-KR" altLang="en-US" dirty="0"/>
                  <a:t>학습시키고 있는 모델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lang="ko-KR" altLang="en-US" dirty="0"/>
                  <a:t>가 잘하고 있는지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못하고 있는지를 </a:t>
                </a:r>
                <a:r>
                  <a:rPr lang="ko-KR" altLang="en-US" b="1" dirty="0"/>
                  <a:t>숫자</a:t>
                </a:r>
                <a:r>
                  <a:rPr lang="ko-KR" altLang="en-US" dirty="0"/>
                  <a:t>로 표현</a:t>
                </a:r>
                <a:endParaRPr lang="en-US" altLang="ko-KR" dirty="0"/>
              </a:p>
              <a:p>
                <a:pPr marL="0" indent="0">
                  <a:buNone/>
                </a:pPr>
                <a:r>
                  <a:rPr lang="en-US" altLang="ko-KR" dirty="0"/>
                  <a:t>		   (</a:t>
                </a:r>
                <a:r>
                  <a:rPr lang="ko-KR" altLang="en-US" dirty="0"/>
                  <a:t>모델의 실력을 점수로 매긴 것</a:t>
                </a:r>
                <a:r>
                  <a:rPr lang="en-US" altLang="ko-KR" dirty="0"/>
                  <a:t>)</a:t>
                </a:r>
              </a:p>
              <a:p>
                <a:r>
                  <a:rPr lang="ko-KR" altLang="en-US" dirty="0"/>
                  <a:t>모델의 성능이 나쁠수록 </a:t>
                </a:r>
                <a:r>
                  <a:rPr lang="en-US" altLang="ko-KR" dirty="0"/>
                  <a:t>loss </a:t>
                </a:r>
                <a:r>
                  <a:rPr lang="ko-KR" altLang="en-US" dirty="0"/>
                  <a:t>값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altLang="ko-KR" dirty="0"/>
                  <a:t>, </a:t>
                </a:r>
                <a:r>
                  <a:rPr lang="ko-KR" altLang="en-US" dirty="0"/>
                  <a:t>좋을수록 </a:t>
                </a:r>
                <a:r>
                  <a:rPr lang="en-US" altLang="ko-KR" dirty="0"/>
                  <a:t>loss </a:t>
                </a:r>
                <a:r>
                  <a:rPr lang="ko-KR" altLang="en-US" dirty="0"/>
                  <a:t>값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↓</m:t>
                    </m:r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Same Goal: </a:t>
                </a:r>
                <a:r>
                  <a:rPr lang="en-US" altLang="ko-KR" b="1" dirty="0">
                    <a:solidFill>
                      <a:srgbClr val="FF0000"/>
                    </a:solidFill>
                  </a:rPr>
                  <a:t>Minimize loss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𝓛</m:t>
                    </m:r>
                  </m:oMath>
                </a14:m>
                <a:endParaRPr lang="ko-KR" altLang="en-US" b="1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4983F47-F0DD-B72C-5F13-21C3940B19B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2899" y="967154"/>
                <a:ext cx="11756952" cy="5380892"/>
              </a:xfrm>
              <a:blipFill>
                <a:blip r:embed="rId2"/>
                <a:stretch>
                  <a:fillRect l="-674" t="-18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AADEB13-D14E-2C47-E9F6-A19A49EC5C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25416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353C2B-46C6-FB68-03A1-21C997164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Prediction of Model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E6DF5A0-23ED-CEC3-EA4C-56F4C0D16DF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Goal: Learn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≈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endParaRPr lang="en-US" altLang="ko-KR" dirty="0"/>
              </a:p>
              <a:p>
                <a:r>
                  <a:rPr lang="en-US" altLang="ko-KR" dirty="0"/>
                  <a:t>Goal: Minimize loss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ℒ</m:t>
                    </m:r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Predict exact labels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pPr lvl="1"/>
                <a:endParaRPr lang="en-US" altLang="ko-KR" dirty="0"/>
              </a:p>
              <a:p>
                <a:r>
                  <a:rPr lang="en-US" altLang="ko-KR" dirty="0"/>
                  <a:t>Predict probabilities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|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E6DF5A0-23ED-CEC3-EA4C-56F4C0D16DF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9" t="-15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50209E0-E972-31A0-A39C-E461045F3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264570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67311C-5B02-7BBF-29DD-1294B396B1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Predict Exact Labels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633E3AA-C5FB-4023-871D-931DB6B82CA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If the answer is correct,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/>
                  <a:t>, loss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dirty="0"/>
                  <a:t>.</a:t>
                </a:r>
              </a:p>
              <a:p>
                <a:r>
                  <a:rPr lang="en-US" altLang="ko-KR" dirty="0"/>
                  <a:t>If the answer is wrong,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/>
                  <a:t>, loss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ko-KR" dirty="0"/>
                  <a:t>.</a:t>
                </a:r>
              </a:p>
              <a:p>
                <a:endParaRPr lang="en-US" altLang="ko-KR" dirty="0"/>
              </a:p>
              <a:p>
                <a:r>
                  <a:rPr lang="ko-KR" altLang="en-US" dirty="0"/>
                  <a:t>모델 개선이 불가능함</a:t>
                </a:r>
                <a:endParaRPr lang="en-US" altLang="ko-KR" dirty="0"/>
              </a:p>
              <a:p>
                <a:r>
                  <a:rPr lang="en-US" altLang="ko-KR" dirty="0"/>
                  <a:t>Uncertainty (</a:t>
                </a:r>
                <a:r>
                  <a:rPr lang="ko-KR" altLang="en-US" dirty="0"/>
                  <a:t>불확실성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를 전혀 나타내지 못함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E633E3AA-C5FB-4023-871D-931DB6B82CA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9" t="-15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372682-0DAD-81E3-5626-F953E8887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18</a:t>
            </a:fld>
            <a:endParaRPr lang="ko-KR" altLang="en-US" dirty="0"/>
          </a:p>
        </p:txBody>
      </p:sp>
      <p:pic>
        <p:nvPicPr>
          <p:cNvPr id="5" name="Picture 2" descr="개야? 고양이야? : 네이버 블로그">
            <a:extLst>
              <a:ext uri="{FF2B5EF4-FFF2-40B4-BE49-F238E27FC236}">
                <a16:creationId xmlns:a16="http://schemas.microsoft.com/office/drawing/2014/main" id="{906DE53D-AB1E-47CD-A6D6-B264C869D5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816" y="3834005"/>
            <a:ext cx="2278600" cy="2354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 descr="픽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468BA082-42C3-03D2-2D38-239CAE69E2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777" y="3834005"/>
            <a:ext cx="2354553" cy="23545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5112D0E-D98B-82A3-9229-83CAC2841D3A}"/>
                  </a:ext>
                </a:extLst>
              </p:cNvPr>
              <p:cNvSpPr txBox="1"/>
              <p:nvPr/>
            </p:nvSpPr>
            <p:spPr>
              <a:xfrm>
                <a:off x="2794416" y="4226451"/>
                <a:ext cx="2453976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3200" b="0" i="0" smtClean="0">
                          <a:latin typeface="Cambria Math" panose="02040503050406030204" pitchFamily="18" charset="0"/>
                        </a:rPr>
                        <m:t>cat</m:t>
                      </m:r>
                    </m:oMath>
                  </m:oMathPara>
                </a14:m>
                <a:endParaRPr lang="en-US" altLang="ko-KR" sz="32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3200" b="0" i="0" smtClean="0">
                          <a:latin typeface="Cambria Math" panose="02040503050406030204" pitchFamily="18" charset="0"/>
                        </a:rPr>
                        <m:t>cat</m:t>
                      </m:r>
                    </m:oMath>
                  </m:oMathPara>
                </a14:m>
                <a:endParaRPr lang="en-US" altLang="ko-KR" sz="32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B5112D0E-D98B-82A3-9229-83CAC2841D3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416" y="4226451"/>
                <a:ext cx="2453976" cy="15696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01FECD-3C17-423C-9D62-E667654682FB}"/>
                  </a:ext>
                </a:extLst>
              </p:cNvPr>
              <p:cNvSpPr txBox="1"/>
              <p:nvPr/>
            </p:nvSpPr>
            <p:spPr>
              <a:xfrm>
                <a:off x="8826621" y="4226451"/>
                <a:ext cx="2453976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3200" b="0" i="0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altLang="ko-KR" sz="32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US" altLang="ko-KR" sz="32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01FECD-3C17-423C-9D62-E667654682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6621" y="4226451"/>
                <a:ext cx="2453976" cy="15696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677099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620C1-739E-1076-B1B7-6A61DA93C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8F2DD22-CC78-1A14-6AD3-2314BC87E8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Predict Exact Labels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C9AE095-D2F5-1DAB-931A-C75ADD051E5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If the answer is correct,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/>
                  <a:t>, loss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altLang="ko-KR" dirty="0"/>
                  <a:t>.</a:t>
                </a:r>
              </a:p>
              <a:p>
                <a:r>
                  <a:rPr lang="en-US" altLang="ko-KR" dirty="0"/>
                  <a:t>If the answer is wrong,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≠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altLang="ko-KR" dirty="0"/>
                  <a:t>, loss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altLang="ko-KR" dirty="0"/>
                  <a:t>.</a:t>
                </a:r>
              </a:p>
              <a:p>
                <a:endParaRPr lang="en-US" altLang="ko-KR" dirty="0"/>
              </a:p>
              <a:p>
                <a:r>
                  <a:rPr lang="ko-KR" altLang="en-US" dirty="0"/>
                  <a:t>모델 개선이 불가능함</a:t>
                </a:r>
                <a:endParaRPr lang="en-US" altLang="ko-KR" dirty="0"/>
              </a:p>
              <a:p>
                <a:r>
                  <a:rPr lang="en-US" altLang="ko-KR" dirty="0"/>
                  <a:t>Uncertainty (</a:t>
                </a:r>
                <a:r>
                  <a:rPr lang="ko-KR" altLang="en-US" dirty="0"/>
                  <a:t>불확실성</a:t>
                </a:r>
                <a:r>
                  <a:rPr lang="en-US" altLang="ko-KR" dirty="0"/>
                  <a:t>)</a:t>
                </a:r>
                <a:r>
                  <a:rPr lang="ko-KR" altLang="en-US" dirty="0"/>
                  <a:t>를 전혀 나타내지 못함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C9AE095-D2F5-1DAB-931A-C75ADD051E5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9" t="-15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FFEC43-2668-9522-4564-E27F5483F7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19</a:t>
            </a:fld>
            <a:endParaRPr lang="ko-KR" altLang="en-US" dirty="0"/>
          </a:p>
        </p:txBody>
      </p:sp>
      <p:pic>
        <p:nvPicPr>
          <p:cNvPr id="5" name="Picture 2" descr="개야? 고양이야? : 네이버 블로그">
            <a:extLst>
              <a:ext uri="{FF2B5EF4-FFF2-40B4-BE49-F238E27FC236}">
                <a16:creationId xmlns:a16="http://schemas.microsoft.com/office/drawing/2014/main" id="{ABED9F3A-2E40-B131-383B-598C665573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816" y="3834005"/>
            <a:ext cx="2278600" cy="2354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 descr="픽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FE827EB-178E-50C9-69AE-9A2721E29D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2777" y="3834005"/>
            <a:ext cx="2354553" cy="23545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87BE52-C8CF-685A-F911-C0EA279B33F7}"/>
                  </a:ext>
                </a:extLst>
              </p:cNvPr>
              <p:cNvSpPr txBox="1"/>
              <p:nvPr/>
            </p:nvSpPr>
            <p:spPr>
              <a:xfrm>
                <a:off x="2794416" y="4226451"/>
                <a:ext cx="2453976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3200" b="0" i="0" smtClean="0">
                          <a:latin typeface="Cambria Math" panose="02040503050406030204" pitchFamily="18" charset="0"/>
                        </a:rPr>
                        <m:t>cat</m:t>
                      </m:r>
                    </m:oMath>
                  </m:oMathPara>
                </a14:m>
                <a:endParaRPr lang="en-US" altLang="ko-KR" sz="32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3200" b="0" i="0" smtClean="0">
                          <a:latin typeface="Cambria Math" panose="02040503050406030204" pitchFamily="18" charset="0"/>
                        </a:rPr>
                        <m:t>cat</m:t>
                      </m:r>
                    </m:oMath>
                  </m:oMathPara>
                </a14:m>
                <a:endParaRPr lang="en-US" altLang="ko-KR" sz="32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8B87BE52-C8CF-685A-F911-C0EA279B33F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94416" y="4226451"/>
                <a:ext cx="2453976" cy="156966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9651417-B469-33A1-F23E-A98CBE2E0284}"/>
                  </a:ext>
                </a:extLst>
              </p:cNvPr>
              <p:cNvSpPr txBox="1"/>
              <p:nvPr/>
            </p:nvSpPr>
            <p:spPr>
              <a:xfrm>
                <a:off x="8826621" y="4226451"/>
                <a:ext cx="2453976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3200" b="0" i="0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altLang="ko-KR" sz="32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=7</m:t>
                      </m:r>
                    </m:oMath>
                  </m:oMathPara>
                </a14:m>
                <a:endParaRPr lang="en-US" altLang="ko-KR" sz="32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ℒ</m:t>
                      </m:r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ko-KR" altLang="en-US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9651417-B469-33A1-F23E-A98CBE2E02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826621" y="4226451"/>
                <a:ext cx="2453976" cy="156966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곱하기 기호 8">
            <a:extLst>
              <a:ext uri="{FF2B5EF4-FFF2-40B4-BE49-F238E27FC236}">
                <a16:creationId xmlns:a16="http://schemas.microsoft.com/office/drawing/2014/main" id="{7DE432A1-1B20-B97E-843B-20B8BC3E16AA}"/>
              </a:ext>
            </a:extLst>
          </p:cNvPr>
          <p:cNvSpPr/>
          <p:nvPr/>
        </p:nvSpPr>
        <p:spPr>
          <a:xfrm>
            <a:off x="-2122968" y="-989033"/>
            <a:ext cx="16437936" cy="8836066"/>
          </a:xfrm>
          <a:prstGeom prst="mathMultiply">
            <a:avLst>
              <a:gd name="adj1" fmla="val 1633"/>
            </a:avLst>
          </a:prstGeom>
          <a:solidFill>
            <a:srgbClr val="C0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947799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50DB9-4AC5-D442-B55A-96AEFB0A9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089792-A6EF-36FF-3F46-17E486A75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Predict Probabilities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950EC3C-7D21-E9FC-597F-4CA4C09215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모델 개선 가능</a:t>
            </a:r>
            <a:endParaRPr lang="en-US" altLang="ko-KR" dirty="0"/>
          </a:p>
          <a:p>
            <a:r>
              <a:rPr lang="ko-KR" altLang="en-US" dirty="0"/>
              <a:t>모델 출력에 </a:t>
            </a:r>
            <a:r>
              <a:rPr lang="en-US" altLang="ko-KR" dirty="0"/>
              <a:t>Uncertainty (</a:t>
            </a:r>
            <a:r>
              <a:rPr lang="ko-KR" altLang="en-US" dirty="0"/>
              <a:t>불확실성</a:t>
            </a:r>
            <a:r>
              <a:rPr lang="en-US" altLang="ko-KR" dirty="0"/>
              <a:t>)</a:t>
            </a:r>
            <a:r>
              <a:rPr lang="ko-KR" altLang="en-US" dirty="0"/>
              <a:t> 내포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FB7E8C4-6060-C1A4-C209-2454938F1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20</a:t>
            </a:fld>
            <a:endParaRPr lang="ko-KR" altLang="en-US" dirty="0"/>
          </a:p>
        </p:txBody>
      </p:sp>
      <p:pic>
        <p:nvPicPr>
          <p:cNvPr id="5" name="Picture 2" descr="개야? 고양이야? : 네이버 블로그">
            <a:extLst>
              <a:ext uri="{FF2B5EF4-FFF2-40B4-BE49-F238E27FC236}">
                <a16:creationId xmlns:a16="http://schemas.microsoft.com/office/drawing/2014/main" id="{FB910D49-78CD-9091-3FB9-5F8746ABD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410" y="1843347"/>
            <a:ext cx="2278600" cy="23545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그림 5" descr="픽셀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CEA7123-78C2-32CC-A41D-59E5945D238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17447" y="4340196"/>
            <a:ext cx="2354553" cy="2354553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F60223A-5181-EA2B-2D6A-65A0BAEA412E}"/>
                  </a:ext>
                </a:extLst>
              </p:cNvPr>
              <p:cNvSpPr txBox="1"/>
              <p:nvPr/>
            </p:nvSpPr>
            <p:spPr>
              <a:xfrm>
                <a:off x="2784132" y="1729600"/>
                <a:ext cx="3809652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altLang="ko-KR" sz="3200" b="0" i="0" smtClean="0">
                          <a:latin typeface="Cambria Math" panose="02040503050406030204" pitchFamily="18" charset="0"/>
                        </a:rPr>
                        <m:t>cat</m:t>
                      </m:r>
                    </m:oMath>
                  </m:oMathPara>
                </a14:m>
                <a:endParaRPr lang="en-US" altLang="ko-KR" sz="3200" b="0" dirty="0"/>
              </a:p>
              <a:p>
                <a:endParaRPr lang="en-US" altLang="ko-KR" sz="3200" b="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3200" b="0" i="0" smtClean="0">
                          <a:latin typeface="Cambria Math" panose="02040503050406030204" pitchFamily="18" charset="0"/>
                        </a:rPr>
                        <m:t>(40%,60%)</m:t>
                      </m:r>
                    </m:oMath>
                  </m:oMathPara>
                </a14:m>
                <a:endParaRPr lang="en-US" altLang="ko-KR" sz="3200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altLang="ko-KR" sz="3200" b="0" i="1" smtClean="0">
                        <a:latin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ko-KR" altLang="en-US" sz="3200" dirty="0"/>
                  <a:t> 개선</a:t>
                </a:r>
                <a:endParaRPr lang="en-US" altLang="ko-KR" sz="3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32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=(30%,70%)</m:t>
                      </m:r>
                    </m:oMath>
                  </m:oMathPara>
                </a14:m>
                <a:endParaRPr lang="en-US" altLang="ko-KR" sz="3200" dirty="0"/>
              </a:p>
            </p:txBody>
          </p:sp>
        </mc:Choice>
        <mc:Fallback xmlns="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EF60223A-5181-EA2B-2D6A-65A0BAEA412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84132" y="1729600"/>
                <a:ext cx="3809652" cy="255454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D6BD4E3-4A3D-5B39-B4D1-0A1A59CE28CF}"/>
                  </a:ext>
                </a:extLst>
              </p:cNvPr>
              <p:cNvSpPr txBox="1"/>
              <p:nvPr/>
            </p:nvSpPr>
            <p:spPr>
              <a:xfrm>
                <a:off x="4541737" y="4226449"/>
                <a:ext cx="7134447" cy="25545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sz="320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sz="320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3200" b="0" i="0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US" altLang="ko-KR" sz="3200" dirty="0"/>
              </a:p>
              <a:p>
                <a:endParaRPr lang="en-US" altLang="ko-KR" sz="3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32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ko-KR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3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(0,0,0,40%,0,0,0,50%,5%,5%)</m:t>
                      </m:r>
                    </m:oMath>
                  </m:oMathPara>
                </a14:m>
                <a:endParaRPr lang="en-US" altLang="ko-KR" sz="3200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altLang="ko-KR" sz="3200" i="1">
                        <a:latin typeface="Cambria Math" panose="02040503050406030204" pitchFamily="18" charset="0"/>
                      </a:rPr>
                      <m:t>↓</m:t>
                    </m:r>
                  </m:oMath>
                </a14:m>
                <a:r>
                  <a:rPr lang="ko-KR" altLang="en-US" sz="3200" dirty="0"/>
                  <a:t> 개선</a:t>
                </a:r>
                <a:endParaRPr lang="en-US" altLang="ko-KR" sz="32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ko-KR" sz="3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ko-KR" sz="3200" i="1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en-US" altLang="ko-KR" sz="3200" i="1">
                              <a:latin typeface="Cambria Math" panose="02040503050406030204" pitchFamily="18" charset="0"/>
                            </a:rPr>
                            <m:t>𝜃</m:t>
                          </m:r>
                        </m:sub>
                      </m:sSub>
                      <m:d>
                        <m:dPr>
                          <m:ctrlPr>
                            <a:rPr lang="en-US" altLang="ko-KR" sz="3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sz="32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ko-KR" sz="3200" i="1">
                          <a:latin typeface="Cambria Math" panose="02040503050406030204" pitchFamily="18" charset="0"/>
                        </a:rPr>
                        <m:t>=(0,0,0,</m:t>
                      </m:r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3</m:t>
                      </m:r>
                      <m:r>
                        <a:rPr lang="en-US" altLang="ko-KR" sz="3200" i="1">
                          <a:latin typeface="Cambria Math" panose="02040503050406030204" pitchFamily="18" charset="0"/>
                        </a:rPr>
                        <m:t>5%,0,0,0,</m:t>
                      </m:r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60</m:t>
                      </m:r>
                      <m:r>
                        <a:rPr lang="en-US" altLang="ko-KR" sz="3200" i="1">
                          <a:latin typeface="Cambria Math" panose="02040503050406030204" pitchFamily="18" charset="0"/>
                        </a:rPr>
                        <m:t>%,</m:t>
                      </m:r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2%</m:t>
                      </m:r>
                      <m:r>
                        <a:rPr lang="en-US" altLang="ko-KR" sz="3200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sz="3200" b="0" i="1" smtClean="0">
                          <a:latin typeface="Cambria Math" panose="02040503050406030204" pitchFamily="18" charset="0"/>
                        </a:rPr>
                        <m:t>3%</m:t>
                      </m:r>
                      <m:r>
                        <a:rPr lang="en-US" altLang="ko-KR" sz="320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sz="3200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9D6BD4E3-4A3D-5B39-B4D1-0A1A59CE28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41737" y="4226449"/>
                <a:ext cx="7134447" cy="2554545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8A0C957E-8865-7A48-AA80-7A0E6E8366D9}"/>
              </a:ext>
            </a:extLst>
          </p:cNvPr>
          <p:cNvSpPr txBox="1"/>
          <p:nvPr/>
        </p:nvSpPr>
        <p:spPr>
          <a:xfrm>
            <a:off x="4572000" y="2446883"/>
            <a:ext cx="17543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dog        cat</a:t>
            </a:r>
            <a:endParaRPr lang="ko-KR" alt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A954D10-C2BD-9950-D86E-8A72CC00CA73}"/>
              </a:ext>
            </a:extLst>
          </p:cNvPr>
          <p:cNvSpPr txBox="1"/>
          <p:nvPr/>
        </p:nvSpPr>
        <p:spPr>
          <a:xfrm>
            <a:off x="6246493" y="4949794"/>
            <a:ext cx="5482856" cy="3663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/>
              <a:t>0  1  2     3        4  5  6     7          8        9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사각형: 둥근 모서리 10">
                <a:extLst>
                  <a:ext uri="{FF2B5EF4-FFF2-40B4-BE49-F238E27FC236}">
                    <a16:creationId xmlns:a16="http://schemas.microsoft.com/office/drawing/2014/main" id="{F4803C41-E033-D865-D7E9-CCA505BCBF71}"/>
                  </a:ext>
                </a:extLst>
              </p:cNvPr>
              <p:cNvSpPr/>
              <p:nvPr/>
            </p:nvSpPr>
            <p:spPr>
              <a:xfrm>
                <a:off x="7625179" y="1970815"/>
                <a:ext cx="4051005" cy="1251973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sz="3600" dirty="0"/>
                  <a:t>Predict </a:t>
                </a:r>
                <a14:m>
                  <m:oMath xmlns:m="http://schemas.openxmlformats.org/officeDocument/2006/math">
                    <m:r>
                      <a:rPr lang="en-US" altLang="ko-KR" sz="3600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sz="36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sz="3600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sz="3600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sz="3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sz="3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sz="3600" dirty="0"/>
              </a:p>
            </p:txBody>
          </p:sp>
        </mc:Choice>
        <mc:Fallback xmlns="">
          <p:sp>
            <p:nvSpPr>
              <p:cNvPr id="11" name="사각형: 둥근 모서리 10">
                <a:extLst>
                  <a:ext uri="{FF2B5EF4-FFF2-40B4-BE49-F238E27FC236}">
                    <a16:creationId xmlns:a16="http://schemas.microsoft.com/office/drawing/2014/main" id="{F4803C41-E033-D865-D7E9-CCA505BCBF7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5179" y="1970815"/>
                <a:ext cx="4051005" cy="1251973"/>
              </a:xfrm>
              <a:prstGeom prst="round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8095050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27C6864-D47A-51E4-D987-7A63D2048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err="1"/>
              <a:t>Softmax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8BA6791-7171-7464-C839-F6C4D69B7B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How</a:t>
            </a:r>
            <a:r>
              <a:rPr lang="ko-KR" altLang="en-US" dirty="0"/>
              <a:t> </a:t>
            </a:r>
            <a:r>
              <a:rPr lang="en-US" altLang="ko-KR" dirty="0"/>
              <a:t>to</a:t>
            </a:r>
            <a:r>
              <a:rPr lang="ko-KR" altLang="en-US" dirty="0"/>
              <a:t> </a:t>
            </a:r>
            <a:r>
              <a:rPr lang="en-US" altLang="ko-KR" dirty="0"/>
              <a:t>change</a:t>
            </a:r>
            <a:r>
              <a:rPr lang="ko-KR" altLang="en-US" dirty="0"/>
              <a:t> </a:t>
            </a:r>
            <a:r>
              <a:rPr lang="en-US" altLang="ko-KR" dirty="0"/>
              <a:t>output</a:t>
            </a:r>
            <a:r>
              <a:rPr lang="ko-KR" altLang="en-US" dirty="0"/>
              <a:t> </a:t>
            </a:r>
            <a:r>
              <a:rPr lang="en-US" altLang="ko-KR" dirty="0"/>
              <a:t>vector to</a:t>
            </a:r>
            <a:r>
              <a:rPr lang="ko-KR" altLang="en-US" dirty="0"/>
              <a:t> </a:t>
            </a:r>
            <a:r>
              <a:rPr lang="en-US" altLang="ko-KR" dirty="0"/>
              <a:t>probability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DCB738A-0645-A3CF-5DCB-1155957C06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21</a:t>
            </a:fld>
            <a:endParaRPr lang="ko-KR" altLang="en-US"/>
          </a:p>
        </p:txBody>
      </p:sp>
      <p:pic>
        <p:nvPicPr>
          <p:cNvPr id="11266" name="Picture 2" descr="MLP와 BERT 모델">
            <a:extLst>
              <a:ext uri="{FF2B5EF4-FFF2-40B4-BE49-F238E27FC236}">
                <a16:creationId xmlns:a16="http://schemas.microsoft.com/office/drawing/2014/main" id="{09B9DDBB-F085-D678-1DF3-9FB2221C3B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8620" y="1615805"/>
            <a:ext cx="7547455" cy="47322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DEF81E0B-7DF4-B283-D02F-9A1A6665A31A}"/>
              </a:ext>
            </a:extLst>
          </p:cNvPr>
          <p:cNvSpPr txBox="1"/>
          <p:nvPr/>
        </p:nvSpPr>
        <p:spPr>
          <a:xfrm>
            <a:off x="7113182" y="2783370"/>
            <a:ext cx="49601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Output</a:t>
            </a:r>
            <a:r>
              <a:rPr lang="ko-KR" altLang="en-US" sz="2400" dirty="0"/>
              <a:t> </a:t>
            </a:r>
            <a:r>
              <a:rPr lang="en-US" altLang="ko-KR" sz="2400" dirty="0"/>
              <a:t>vector</a:t>
            </a:r>
          </a:p>
          <a:p>
            <a:r>
              <a:rPr lang="en-US" altLang="ko-KR" sz="2400" dirty="0"/>
              <a:t>(-1.1, 0, 0.3, 1.2, 0.4, -0.2, -0.6, 0.5)</a:t>
            </a:r>
            <a:endParaRPr lang="ko-KR" altLang="en-US" sz="2400" dirty="0"/>
          </a:p>
        </p:txBody>
      </p:sp>
      <p:sp>
        <p:nvSpPr>
          <p:cNvPr id="6" name="화살표: 아래쪽 5">
            <a:extLst>
              <a:ext uri="{FF2B5EF4-FFF2-40B4-BE49-F238E27FC236}">
                <a16:creationId xmlns:a16="http://schemas.microsoft.com/office/drawing/2014/main" id="{470919E5-FE67-61F4-0F8E-3BCAE1756B43}"/>
              </a:ext>
            </a:extLst>
          </p:cNvPr>
          <p:cNvSpPr/>
          <p:nvPr/>
        </p:nvSpPr>
        <p:spPr>
          <a:xfrm>
            <a:off x="8739963" y="3785191"/>
            <a:ext cx="489097" cy="70788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사각형: 둥근 모서리 6">
            <a:extLst>
              <a:ext uri="{FF2B5EF4-FFF2-40B4-BE49-F238E27FC236}">
                <a16:creationId xmlns:a16="http://schemas.microsoft.com/office/drawing/2014/main" id="{7EEBCDB0-51C0-BB75-34ED-B847FFC4530F}"/>
              </a:ext>
            </a:extLst>
          </p:cNvPr>
          <p:cNvSpPr/>
          <p:nvPr/>
        </p:nvSpPr>
        <p:spPr>
          <a:xfrm>
            <a:off x="9326390" y="3868355"/>
            <a:ext cx="1603880" cy="5415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2400" dirty="0" err="1"/>
              <a:t>Softmax</a:t>
            </a:r>
            <a:endParaRPr lang="ko-KR" alt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B18139-1BE9-9AC3-DE20-CC0F816E56D1}"/>
              </a:ext>
            </a:extLst>
          </p:cNvPr>
          <p:cNvSpPr txBox="1"/>
          <p:nvPr/>
        </p:nvSpPr>
        <p:spPr>
          <a:xfrm>
            <a:off x="6815470" y="4565708"/>
            <a:ext cx="537653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dirty="0"/>
              <a:t>Output</a:t>
            </a:r>
            <a:r>
              <a:rPr lang="ko-KR" altLang="en-US" sz="2400" dirty="0"/>
              <a:t> </a:t>
            </a:r>
            <a:r>
              <a:rPr lang="en-US" altLang="ko-KR" sz="2400" dirty="0"/>
              <a:t>probability</a:t>
            </a:r>
          </a:p>
          <a:p>
            <a:r>
              <a:rPr lang="en-US" altLang="ko-KR" sz="2400" spc="-100" dirty="0"/>
              <a:t>(0.03, 0.1, 0.13, 0.31, 0.14, 0.08, 0.05, 0.16)</a:t>
            </a:r>
            <a:endParaRPr lang="ko-KR" altLang="en-US" sz="2400" spc="-100" dirty="0"/>
          </a:p>
        </p:txBody>
      </p:sp>
    </p:spTree>
    <p:extLst>
      <p:ext uri="{BB962C8B-B14F-4D97-AF65-F5344CB8AC3E}">
        <p14:creationId xmlns:p14="http://schemas.microsoft.com/office/powerpoint/2010/main" val="11781336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2F5BAB-D057-44EB-FBDA-AC070D6278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B5BEAF6-BDAD-A05E-0FE3-657C3B2AA2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Softmax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CD33924-6AB2-41A0-CEB0-F551A53CA47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For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all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∈{1, 2, …,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en-US" altLang="ko-KR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)≤1</m:t>
                    </m:r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CD33924-6AB2-41A0-CEB0-F551A53CA47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9" t="-15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F17A3E7-AADF-39C2-6D48-AF8D89B76B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22</a:t>
            </a:fld>
            <a:endParaRPr lang="ko-KR" altLang="en-US"/>
          </a:p>
        </p:txBody>
      </p:sp>
      <p:pic>
        <p:nvPicPr>
          <p:cNvPr id="10" name="그림 9" descr="텍스트, 폰트, 화이트, 영수증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19FF51A-7A9C-4FDF-BDE8-E7B0BAA5EE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914" y="2600847"/>
            <a:ext cx="9530919" cy="3747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13968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4989F43-704C-E53D-E7A8-B9BE5B4CE4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ML Method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6C1FB3-EB26-913A-89A5-CDCA377B63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altLang="ko-KR" dirty="0"/>
              <a:t>Model class </a:t>
            </a:r>
            <a:r>
              <a:rPr lang="ko-KR" altLang="en-US" dirty="0"/>
              <a:t>정의</a:t>
            </a:r>
            <a:endParaRPr lang="en-US" altLang="ko-KR" dirty="0"/>
          </a:p>
          <a:p>
            <a:pPr marL="457200" indent="-457200">
              <a:buAutoNum type="arabicPeriod"/>
            </a:pPr>
            <a:r>
              <a:rPr lang="en-US" altLang="ko-KR" b="1" dirty="0"/>
              <a:t>Loss function (</a:t>
            </a:r>
            <a:r>
              <a:rPr lang="ko-KR" altLang="en-US" b="1" dirty="0"/>
              <a:t>손실 함수</a:t>
            </a:r>
            <a:r>
              <a:rPr lang="en-US" altLang="ko-KR" b="1" dirty="0"/>
              <a:t>)</a:t>
            </a:r>
            <a:r>
              <a:rPr lang="ko-KR" altLang="en-US" b="1" dirty="0"/>
              <a:t> 정의</a:t>
            </a:r>
            <a:endParaRPr lang="en-US" altLang="ko-KR" b="1" dirty="0"/>
          </a:p>
          <a:p>
            <a:pPr marL="457200" indent="-457200">
              <a:buAutoNum type="arabicPeriod"/>
            </a:pPr>
            <a:r>
              <a:rPr lang="en-US" altLang="ko-KR" b="1" dirty="0"/>
              <a:t>Optimizer </a:t>
            </a:r>
            <a:r>
              <a:rPr lang="ko-KR" altLang="en-US" b="1" dirty="0"/>
              <a:t>선택</a:t>
            </a:r>
            <a:endParaRPr lang="en-US" altLang="ko-KR" b="1" dirty="0"/>
          </a:p>
          <a:p>
            <a:pPr marL="457200" indent="-457200">
              <a:buAutoNum type="arabicPeriod"/>
            </a:pPr>
            <a:r>
              <a:rPr lang="en-US" altLang="ko-KR" dirty="0"/>
              <a:t>GPU</a:t>
            </a:r>
            <a:r>
              <a:rPr lang="ko-KR" altLang="en-US" dirty="0"/>
              <a:t>를 사용해 학습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A68A247-F5E4-4A12-A7F3-082030075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23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87086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43A9CE9-083E-A76D-B9FC-CC7D2DB39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How is a Dataset Generated?: Probabilistic Perspective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47A5CF1-AC76-97DC-8736-0FEFEF2C1F0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2899" y="967153"/>
                <a:ext cx="11333285" cy="5620727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b="1" dirty="0"/>
                  <a:t>Data </a:t>
                </a:r>
                <a:r>
                  <a:rPr lang="ko-KR" altLang="en-US" b="1" dirty="0"/>
                  <a:t>생성에 대한 가정</a:t>
                </a:r>
                <a:endParaRPr lang="en-US" altLang="ko-KR" b="1" dirty="0"/>
              </a:p>
              <a:p>
                <a:r>
                  <a:rPr lang="en-US" altLang="ko-KR" dirty="0"/>
                  <a:t>Data</a:t>
                </a:r>
                <a:r>
                  <a:rPr lang="ko-KR" altLang="en-US" dirty="0"/>
                  <a:t>는 결정론적으로 만들어지지 않음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각 </a:t>
                </a:r>
                <a:r>
                  <a:rPr lang="en-US" altLang="ko-KR" dirty="0"/>
                  <a:t>data</a:t>
                </a:r>
                <a:r>
                  <a:rPr lang="ko-KR" altLang="en-US" dirty="0"/>
                  <a:t>는 어떤 확률 분포에서 추출</a:t>
                </a:r>
                <a:r>
                  <a:rPr lang="en-US" altLang="ko-KR" dirty="0"/>
                  <a:t>(sampling)</a:t>
                </a:r>
                <a:r>
                  <a:rPr lang="ko-KR" altLang="en-US" dirty="0"/>
                  <a:t>된다고 가정</a:t>
                </a:r>
                <a:r>
                  <a:rPr lang="en-US" altLang="ko-KR" dirty="0"/>
                  <a:t>.</a:t>
                </a:r>
              </a:p>
              <a:p>
                <a:r>
                  <a:rPr lang="ko-KR" altLang="en-US" dirty="0"/>
                  <a:t>입력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ko-KR" altLang="en-US" dirty="0"/>
                  <a:t> 주어지면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정답</a:t>
                </a:r>
                <a:r>
                  <a:rPr lang="en-US" altLang="ko-KR" dirty="0"/>
                  <a:t>(label)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en-US" dirty="0"/>
                  <a:t>는 확률적으로 결정됨</a:t>
                </a:r>
                <a:r>
                  <a:rPr lang="en-US" altLang="ko-KR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𝑝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</m:oMath>
                  </m:oMathPara>
                </a14:m>
                <a:endParaRPr lang="en-US" altLang="ko-KR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|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⇒</m:t>
                      </m:r>
                      <m:d>
                        <m:dPr>
                          <m:ctrlP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r>
                            <a:rPr lang="en-US" altLang="ko-K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d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dirty="0"/>
              </a:p>
              <a:p>
                <a:r>
                  <a:rPr lang="ko-KR" altLang="en-US" dirty="0"/>
                  <a:t>우리는 이 분포 자체를 알 수 없음</a:t>
                </a:r>
                <a:r>
                  <a:rPr lang="en-US" altLang="ko-KR" dirty="0"/>
                  <a:t>. </a:t>
                </a:r>
                <a:r>
                  <a:rPr lang="ko-KR" altLang="en-US" dirty="0"/>
                  <a:t>오직 </a:t>
                </a:r>
                <a:r>
                  <a:rPr lang="en-US" altLang="ko-KR" dirty="0"/>
                  <a:t>sample</a:t>
                </a:r>
                <a:r>
                  <a:rPr lang="ko-KR" altLang="en-US" dirty="0"/>
                  <a:t>들만 관측 가능</a:t>
                </a:r>
                <a:r>
                  <a:rPr lang="en-US" altLang="ko-KR" dirty="0"/>
                  <a:t>.</a:t>
                </a:r>
              </a:p>
              <a:p>
                <a:endParaRPr lang="en-US" altLang="ko-KR" dirty="0"/>
              </a:p>
              <a:p>
                <a:r>
                  <a:rPr lang="en-US" altLang="ko-KR" dirty="0"/>
                  <a:t>Training dataset: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𝒟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,…,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d>
                      </m:e>
                    </m:d>
                  </m:oMath>
                </a14:m>
                <a:endParaRPr lang="en-US" altLang="ko-KR" dirty="0"/>
              </a:p>
              <a:p>
                <a:r>
                  <a:rPr lang="en-US" altLang="ko-KR" dirty="0" err="1"/>
                  <a:t>i.i.d.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가정</a:t>
                </a:r>
                <a:r>
                  <a:rPr lang="en-US" altLang="ko-KR" dirty="0"/>
                  <a:t>: Independent and Identically Distributed</a:t>
                </a:r>
              </a:p>
              <a:p>
                <a:r>
                  <a:rPr lang="ko-KR" altLang="en-US" dirty="0"/>
                  <a:t>각 </a:t>
                </a:r>
                <a:r>
                  <a:rPr lang="en-US" altLang="ko-KR" dirty="0"/>
                  <a:t>data </a:t>
                </a:r>
                <a:r>
                  <a:rPr lang="ko-KR" altLang="en-US" dirty="0"/>
                  <a:t>쌍들이 동일한 분포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 dirty="0"/>
                  <a:t>서 독립적으로 추출되었다고 가정</a:t>
                </a:r>
                <a:r>
                  <a:rPr lang="en-US" altLang="ko-KR" dirty="0"/>
                  <a:t>.</a:t>
                </a: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ko-KR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US" altLang="ko-KR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US" altLang="ko-KR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b>
                              <m:r>
                                <a:rPr lang="en-US" altLang="ko-KR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US" altLang="ko-KR" i="1">
                          <a:latin typeface="Cambria Math" panose="02040503050406030204" pitchFamily="18" charset="0"/>
                        </a:rPr>
                        <m:t>~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 altLang="ko-KR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47A5CF1-AC76-97DC-8736-0FEFEF2C1F0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2899" y="967153"/>
                <a:ext cx="11333285" cy="5620727"/>
              </a:xfrm>
              <a:blipFill>
                <a:blip r:embed="rId2"/>
                <a:stretch>
                  <a:fillRect l="-699" t="-173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808DA71-07F6-6F46-D5E0-B11F13720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24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02805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653D967-1AEF-46BB-C634-EFEB341832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Modeling</a:t>
            </a:r>
            <a:r>
              <a:rPr lang="ko-KR" altLang="en-US" dirty="0"/>
              <a:t> </a:t>
            </a:r>
            <a:r>
              <a:rPr lang="en-US" altLang="ko-KR" dirty="0"/>
              <a:t>Data</a:t>
            </a:r>
            <a:r>
              <a:rPr lang="ko-KR" altLang="en-US" dirty="0"/>
              <a:t> </a:t>
            </a:r>
            <a:r>
              <a:rPr lang="en-US" altLang="ko-KR" dirty="0"/>
              <a:t>Distribution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F6D330B-DAE0-ECB1-3B8B-6BF05054C0A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Goal: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와</m:t>
                    </m:r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ko-KR" altLang="en-US" i="1" dirty="0">
                        <a:latin typeface="Cambria Math" panose="02040503050406030204" pitchFamily="18" charset="0"/>
                      </a:rPr>
                      <m:t>사</m:t>
                    </m:r>
                  </m:oMath>
                </a14:m>
                <a:r>
                  <a:rPr lang="ko-KR" altLang="en-US" dirty="0"/>
                  <a:t>이의 조건부 분포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ko-KR" altLang="en-US" dirty="0"/>
                  <a:t> 모델링</a:t>
                </a:r>
                <a:endParaRPr lang="en-US" altLang="ko-KR" dirty="0"/>
              </a:p>
              <a:p>
                <a:r>
                  <a:rPr lang="ko-KR" altLang="en-US" dirty="0"/>
                  <a:t>입력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주어졌을 때 정답</a:t>
                </a:r>
                <a:r>
                  <a:rPr lang="en-US" altLang="ko-KR" dirty="0"/>
                  <a:t>(label)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ko-KR" altLang="en-US" dirty="0"/>
                  <a:t>가 나타날 조건부 확률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i="1" smtClean="0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예측</a:t>
                </a:r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그러나 실제 분포를 알 수 없으므로 파라미터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ko-KR" altLang="en-US" dirty="0"/>
                  <a:t> 가진 모델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ko-KR" altLang="en-US" i="1">
                        <a:latin typeface="Cambria Math" panose="02040503050406030204" pitchFamily="18" charset="0"/>
                      </a:rPr>
                      <m:t>로</m:t>
                    </m:r>
                  </m:oMath>
                </a14:m>
                <a:r>
                  <a:rPr lang="ko-KR" altLang="en-US" dirty="0"/>
                  <a:t> 이를 근사함</a:t>
                </a:r>
                <a:r>
                  <a:rPr lang="en-US" altLang="ko-KR" dirty="0"/>
                  <a:t>.</a:t>
                </a:r>
              </a:p>
              <a:p>
                <a:r>
                  <a:rPr lang="en-US" altLang="ko-KR" b="1" dirty="0"/>
                  <a:t>Goal: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𝒑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𝒙</m:t>
                    </m:r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b="1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en-US" altLang="ko-KR" b="1" dirty="0"/>
                  <a:t> </a:t>
                </a:r>
                <a:r>
                  <a:rPr lang="ko-KR" altLang="en-US" b="1" dirty="0"/>
                  <a:t>가장 잘 흉내내는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𝒑</m:t>
                        </m:r>
                      </m:e>
                      <m:sub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𝜽</m:t>
                        </m:r>
                      </m:sub>
                    </m:sSub>
                    <m:d>
                      <m:dPr>
                        <m:ctrlPr>
                          <a:rPr lang="en-US" altLang="ko-KR" b="1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e>
                        <m:r>
                          <a:rPr lang="en-US" altLang="ko-KR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</m:d>
                  </m:oMath>
                </a14:m>
                <a:r>
                  <a:rPr lang="ko-KR" altLang="en-US" b="1" dirty="0"/>
                  <a:t> 찾기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⇐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Learning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F6D330B-DAE0-ECB1-3B8B-6BF05054C0A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9" t="-17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55AFA34-C9AE-8C1A-956B-87DDB6CC9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916740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5AC561-8E05-370F-B997-B82C1373CA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Maximum Likelihood Estimation (MLE)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26F6D3E-2FAB-333F-921E-573DBE355B5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𝒟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sup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ko-KR" dirty="0"/>
                  <a:t>: dataset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𝒟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존재할 확률</a:t>
                </a:r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Likelihood: </a:t>
                </a:r>
                <a:r>
                  <a:rPr lang="ko-KR" altLang="en-US" dirty="0"/>
                  <a:t>파라미터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ko-KR" altLang="en-US" dirty="0"/>
                  <a:t> 주어졌을 때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관측된 </a:t>
                </a:r>
                <a:r>
                  <a:rPr lang="en-US" altLang="ko-KR" dirty="0"/>
                  <a:t>data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𝒟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ko-KR" altLang="en-US" dirty="0"/>
                  <a:t> 나타날 확률</a:t>
                </a:r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𝒟</m:t>
                        </m:r>
                      </m:e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이미 </a:t>
                </a:r>
                <a:r>
                  <a:rPr lang="en-US" altLang="ko-KR" dirty="0"/>
                  <a:t>dataset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𝒟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ko-KR" altLang="en-US" dirty="0"/>
                  <a:t> 관측되었으므로</a:t>
                </a:r>
                <a:r>
                  <a:rPr lang="en-US" altLang="ko-KR" dirty="0"/>
                  <a:t>(training dataset),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𝒟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가</m:t>
                    </m:r>
                  </m:oMath>
                </a14:m>
                <a:r>
                  <a:rPr lang="ko-KR" altLang="en-US" dirty="0"/>
                  <a:t> 최대가 되도록 하는 파라미터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ko-KR" altLang="en-US" dirty="0"/>
                  <a:t> 찾아야 함</a:t>
                </a:r>
                <a:r>
                  <a:rPr lang="en-US" altLang="ko-KR" dirty="0"/>
                  <a:t>.</a:t>
                </a:r>
              </a:p>
              <a:p>
                <a:endParaRPr lang="en-US" altLang="ko-KR" dirty="0"/>
              </a:p>
              <a:p>
                <a:r>
                  <a:rPr lang="ko-KR" altLang="en-US" dirty="0"/>
                  <a:t>최적의 파라미터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nary>
                      <m:naryPr>
                        <m:chr m:val="∏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r>
                  <a:rPr lang="en-US" altLang="ko-KR" dirty="0"/>
                  <a:t>: Likelihood</a:t>
                </a:r>
                <a:r>
                  <a:rPr lang="ko-KR" altLang="en-US" dirty="0"/>
                  <a:t>를 최대로 만드는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0" dirty="0" smtClean="0">
                        <a:latin typeface="Cambria Math" panose="02040503050406030204" pitchFamily="18" charset="0"/>
                      </a:rPr>
                      <m:t>    </m:t>
                    </m:r>
                    <m:r>
                      <a:rPr lang="en-US" altLang="ko-KR" i="1" dirty="0">
                        <a:latin typeface="Cambria Math" panose="02040503050406030204" pitchFamily="18" charset="0"/>
                      </a:rPr>
                      <m:t>⇐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Maximum likelihood estimation (MLE)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26F6D3E-2FAB-333F-921E-573DBE355B5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9" t="-11791" r="-86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00F0DD-4D82-2EF4-7AC7-490AB6B1F9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26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794350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0972CF0-4D63-0878-C526-1C517211F1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Negative Log-Likelihood (NLL)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DCA67C6-7C5A-C293-1894-3C31B8B85CE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𝒟</m:t>
                        </m:r>
                      </m:e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∏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ko-KR" dirty="0"/>
              </a:p>
              <a:p>
                <a:r>
                  <a:rPr lang="ko-KR" altLang="en-US" dirty="0"/>
                  <a:t>확률은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0≤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𝑝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≤1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이</m:t>
                    </m:r>
                  </m:oMath>
                </a14:m>
                <a:r>
                  <a:rPr lang="ko-KR" altLang="en-US" dirty="0"/>
                  <a:t>므로 곱할수록 매우 </a:t>
                </a:r>
                <a:r>
                  <a:rPr lang="ko-KR" altLang="en-US" dirty="0" err="1"/>
                  <a:t>작아짐</a:t>
                </a:r>
                <a:r>
                  <a:rPr lang="en-US" altLang="ko-KR" dirty="0"/>
                  <a:t>.</a:t>
                </a:r>
              </a:p>
              <a:p>
                <a:endParaRPr lang="en-US" altLang="ko-KR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𝒟</m:t>
                            </m:r>
                          </m:e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</m:fun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[</m:t>
                        </m:r>
                        <m:func>
                          <m:func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]</m:t>
                        </m:r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func>
                          <m:func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nary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constant</m:t>
                    </m:r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∴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argmax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func>
                          <m:func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nary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argm</m:t>
                        </m:r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in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func>
                          <m:func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nary>
                  </m:oMath>
                </a14:m>
                <a:r>
                  <a:rPr lang="ko-KR" altLang="en-US" dirty="0"/>
                  <a:t>          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⇐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Negative log-likelihood (NLL)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DCA67C6-7C5A-C293-1894-3C31B8B85CE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9" t="-119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E4B1E48-7BB2-1FFB-1BC3-02D21C30D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27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052461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EF74D6-B26F-49C2-CB42-0FAE6A6CCC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Define Loss Function: Use NLL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FAB8573-2D0A-340F-AD63-8F6F081873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Loss function: </a:t>
                </a:r>
                <a:r>
                  <a:rPr lang="ko-KR" altLang="en-US" dirty="0"/>
                  <a:t>모델의 성능이 나쁠수록 </a:t>
                </a:r>
                <a:r>
                  <a:rPr lang="en-US" altLang="ko-KR" dirty="0"/>
                  <a:t>loss </a:t>
                </a:r>
                <a:r>
                  <a:rPr lang="ko-KR" altLang="en-US" dirty="0"/>
                  <a:t>값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↑</m:t>
                    </m:r>
                  </m:oMath>
                </a14:m>
                <a:r>
                  <a:rPr lang="en-US" altLang="ko-KR" dirty="0"/>
                  <a:t>, </a:t>
                </a:r>
                <a:r>
                  <a:rPr lang="ko-KR" altLang="en-US" dirty="0"/>
                  <a:t>좋을수록 </a:t>
                </a:r>
                <a:r>
                  <a:rPr lang="en-US" altLang="ko-KR" dirty="0"/>
                  <a:t>loss </a:t>
                </a:r>
                <a:r>
                  <a:rPr lang="ko-KR" altLang="en-US" dirty="0"/>
                  <a:t>값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↓</m:t>
                    </m:r>
                  </m:oMath>
                </a14:m>
                <a:endParaRPr lang="en-US" altLang="ko-KR" dirty="0"/>
              </a:p>
              <a:p>
                <a:r>
                  <a:rPr lang="en-US" altLang="ko-KR" dirty="0"/>
                  <a:t>Goal: Minimize loss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ℒ</m:t>
                    </m:r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argmin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−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func>
                          <m:func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nary>
                  </m:oMath>
                </a14:m>
                <a:r>
                  <a:rPr lang="ko-KR" altLang="en-US" dirty="0"/>
                  <a:t>          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⇐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Negative log-likelihood</a:t>
                </a:r>
              </a:p>
              <a:p>
                <a:endParaRPr lang="en-US" altLang="ko-KR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)=−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func>
                          <m:func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nary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argmin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FAB8573-2D0A-340F-AD63-8F6F081873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9" t="-18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8C54547-8297-11CA-EF0B-AEC4E9421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28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289074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E6B27AE-7B83-A348-59F9-FBF9D2F4A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Quiz 1: Likelihood and Learning Objective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3134456-DDED-1203-D061-E4659C07B4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Assume the following data generating process:</a:t>
                </a:r>
              </a:p>
              <a:p>
                <a:r>
                  <a:rPr lang="en-US" altLang="ko-KR" dirty="0"/>
                  <a:t>Training data consists of pairs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b>
                            <m: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ko-KR" b="0" i="0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y</m:t>
                            </m:r>
                          </m:e>
                          <m:sub>
                            <m: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,…,(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r>
                  <a:rPr lang="en-US" altLang="ko-KR" dirty="0"/>
                  <a:t>Each data point is sampled independently from an unknown true distribution.</a:t>
                </a:r>
              </a:p>
              <a:p>
                <a:r>
                  <a:rPr lang="en-US" altLang="ko-KR" dirty="0"/>
                  <a:t>We model the conditional distribution as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Questions</a:t>
                </a:r>
              </a:p>
              <a:p>
                <a:pPr marL="457200" indent="-457200">
                  <a:buAutoNum type="arabicPeriod"/>
                </a:pPr>
                <a:r>
                  <a:rPr lang="en-US" altLang="ko-KR" dirty="0"/>
                  <a:t>Write the likelihood of the training dataset under the model.</a:t>
                </a:r>
              </a:p>
              <a:p>
                <a:pPr marL="457200" indent="-457200">
                  <a:buAutoNum type="arabicPeriod"/>
                </a:pPr>
                <a:r>
                  <a:rPr lang="en-US" altLang="ko-KR" dirty="0"/>
                  <a:t>Explain in words what Maximum Likelihood Estimation (MLE) is trying to do.</a:t>
                </a:r>
              </a:p>
              <a:p>
                <a:pPr marL="457200" indent="-457200">
                  <a:buAutoNum type="arabicPeriod"/>
                </a:pPr>
                <a:r>
                  <a:rPr lang="en-US" altLang="ko-KR" dirty="0"/>
                  <a:t>Why do we minimize negative log-likelihood instead of maximizing likelihood directly?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93134456-DDED-1203-D061-E4659C07B4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61" t="-15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962861F-0786-C07E-260A-1D73D6F7D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29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19267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E06189D-BA82-4896-9A96-8D68A0953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Quiz 1 – Solution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5726973-32E4-4101-BB17-921CD85DF46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57200" indent="-457200">
                  <a:buAutoNum type="arabicPeriod"/>
                </a:pPr>
                <a:r>
                  <a:rPr lang="en-US" altLang="ko-KR" dirty="0"/>
                  <a:t>Likelihood of the dataset: </a:t>
                </a:r>
                <a14:m>
                  <m:oMath xmlns:m="http://schemas.openxmlformats.org/officeDocument/2006/math">
                    <m:nary>
                      <m:naryPr>
                        <m:chr m:val="∏"/>
                        <m:ctrlPr>
                          <a:rPr lang="en-US" altLang="ko-K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ko-KR" dirty="0"/>
              </a:p>
              <a:p>
                <a:pPr marL="457200" indent="-457200">
                  <a:buAutoNum type="arabicPeriod"/>
                </a:pPr>
                <a:r>
                  <a:rPr lang="en-US" altLang="ko-KR" dirty="0"/>
                  <a:t>Interpretation of MLE:</a:t>
                </a:r>
              </a:p>
              <a:p>
                <a:pPr marL="914400" lvl="1" indent="-457200">
                  <a:buAutoNum type="arabicPeriod"/>
                </a:pPr>
                <a:r>
                  <a:rPr lang="en-US" altLang="ko-KR" dirty="0"/>
                  <a:t>MLE choses parameters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that make the observed training data most probable under the assumed model.</a:t>
                </a:r>
              </a:p>
              <a:p>
                <a:pPr marL="914400" lvl="1" indent="-457200">
                  <a:buAutoNum type="arabicPeriod"/>
                </a:pPr>
                <a:r>
                  <a:rPr lang="en-US" altLang="ko-KR" dirty="0"/>
                  <a:t>In other words, the model is adjusted so that the data we actually observed is likely to be generated by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dirty="0"/>
                  <a:t>.</a:t>
                </a:r>
              </a:p>
              <a:p>
                <a:pPr marL="457200" indent="-457200">
                  <a:buAutoNum type="arabicPeriod"/>
                </a:pPr>
                <a:r>
                  <a:rPr lang="en-US" altLang="ko-KR" dirty="0"/>
                  <a:t>Why negative log-likelihood?</a:t>
                </a:r>
              </a:p>
              <a:p>
                <a:pPr marL="914400" lvl="1" indent="-457200">
                  <a:buAutoNum type="arabicPeriod"/>
                </a:pPr>
                <a:r>
                  <a:rPr lang="en-US" altLang="ko-KR" dirty="0"/>
                  <a:t>The product of probabilities is numerically unstable and difficult to optimize.</a:t>
                </a:r>
              </a:p>
              <a:p>
                <a:pPr marL="914400" lvl="1" indent="-457200">
                  <a:buAutoNum type="arabicPeriod"/>
                </a:pPr>
                <a:r>
                  <a:rPr lang="en-US" altLang="ko-KR" dirty="0"/>
                  <a:t>Taking the logarithm converts products into sums.</a:t>
                </a:r>
              </a:p>
              <a:p>
                <a:pPr marL="914400" lvl="1" indent="-457200">
                  <a:buAutoNum type="arabicPeriod"/>
                </a:pPr>
                <a:r>
                  <a:rPr lang="en-US" altLang="ko-KR" dirty="0"/>
                  <a:t>Minimizing negative log-likelihood is mathematically equivalent to maximizing likelihood and is easier to optimize.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85726973-32E4-4101-BB17-921CD85DF46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61" t="-11905" r="-37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4442397-B0BF-F740-70C9-56FB48D8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30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131812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0E8B278-EA77-48A5-610B-22F1BFF1EB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Various Loss Functions – Regression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FB12975-7C42-921B-F0ED-2FF68B257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31</a:t>
            </a:fld>
            <a:endParaRPr lang="ko-KR" altLang="en-US"/>
          </a:p>
        </p:txBody>
      </p:sp>
      <p:pic>
        <p:nvPicPr>
          <p:cNvPr id="5" name="Picture 2" descr="Curve Fitting using Linear and Nonlinear Regression - GeeksforGeeks">
            <a:extLst>
              <a:ext uri="{FF2B5EF4-FFF2-40B4-BE49-F238E27FC236}">
                <a16:creationId xmlns:a16="http://schemas.microsoft.com/office/drawing/2014/main" id="{32282B5A-663B-7FEC-8BE9-895AF751074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543" y="136525"/>
            <a:ext cx="4018457" cy="3202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155AE99-3EF8-C3BB-1223-1F7B8B80201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altLang="ko-KR" dirty="0"/>
                  <a:t>: </a:t>
                </a:r>
                <a:r>
                  <a:rPr lang="ko-KR" altLang="en-US" dirty="0"/>
                  <a:t>정답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와</m:t>
                    </m:r>
                  </m:oMath>
                </a14:m>
                <a:r>
                  <a:rPr lang="ko-KR" altLang="en-US" dirty="0"/>
                  <a:t> 모델 </a:t>
                </a:r>
                <a:r>
                  <a:rPr lang="ko-KR" altLang="en-US" dirty="0" err="1"/>
                  <a:t>출력값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와</m:t>
                    </m:r>
                  </m:oMath>
                </a14:m>
                <a:r>
                  <a:rPr lang="ko-KR" altLang="en-US" dirty="0"/>
                  <a:t>의 오차</a:t>
                </a:r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오차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r>
                  <a:rPr lang="ko-KR" altLang="en-US" dirty="0"/>
                  <a:t>이 평균이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인 </a:t>
                </a:r>
                <a:r>
                  <a:rPr lang="en-US" altLang="ko-KR" dirty="0"/>
                  <a:t>Gaussian Distribution</a:t>
                </a:r>
                <a:r>
                  <a:rPr lang="ko-KR" altLang="en-US" dirty="0"/>
                  <a:t>을 따른다고 가정</a:t>
                </a:r>
                <a:r>
                  <a:rPr lang="en-US" altLang="ko-KR" dirty="0"/>
                  <a:t>.</a:t>
                </a:r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𝜖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𝒩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0,</m:t>
                        </m:r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𝒩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sSup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𝜋</m:t>
                                    </m:r>
                                  </m:e>
                                </m:d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𝑑</m:t>
                                </m:r>
                              </m:sup>
                            </m:sSup>
                            <m:d>
                              <m:dPr>
                                <m:begChr m:val="|"/>
                                <m:endChr m:val="|"/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0" smtClean="0"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</m:d>
                          </m:e>
                        </m:rad>
                      </m:den>
                    </m:f>
                    <m:func>
                      <m:func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sSup>
                              <m:sSup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sSub>
                                      <m:sSub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𝑓</m:t>
                                        </m:r>
                                      </m:e>
                                      <m:sub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𝜃</m:t>
                                        </m:r>
                                      </m:sub>
                                    </m:sSub>
                                    <m:d>
                                      <m:dPr>
                                        <m:ctrlP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altLang="ko-KR" b="0" i="1" smtClean="0">
                                            <a:latin typeface="Cambria Math" panose="02040503050406030204" pitchFamily="18" charset="0"/>
                                          </a:rPr>
                                          <m:t>𝑥</m:t>
                                        </m:r>
                                      </m:e>
                                    </m:d>
                                  </m:e>
                                </m:d>
                              </m:e>
                              <m:sup>
                                <m:r>
                                  <m:rPr>
                                    <m:nor/>
                                  </m:rPr>
                                  <a:rPr lang="ko-KR" altLang="en-US"/>
                                  <m:t>⊤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0" smtClean="0">
                                    <a:latin typeface="Cambria Math" panose="02040503050406030204" pitchFamily="18" charset="0"/>
                                  </a:rPr>
                                  <m:t>Σ</m:t>
                                </m:r>
                              </m:e>
                              <m:sup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sup>
                            </m:sSup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</m:d>
                      </m:e>
                    </m:func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NLL </a:t>
                </a:r>
                <a:r>
                  <a:rPr lang="ko-KR" altLang="en-US" dirty="0"/>
                  <a:t>적용</a:t>
                </a:r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f>
                          <m:f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sup>
                        </m:sSup>
                        <m:d>
                          <m:dPr>
                            <m:begChr m:val="|"/>
                            <m:endChr m:val="|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Σ</m:t>
                            </m:r>
                          </m:e>
                        </m:d>
                      </m:e>
                    </m:fun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m:rPr>
                            <m:nor/>
                          </m:rPr>
                          <a:rPr lang="ko-KR" altLang="en-US"/>
                          <m:t>⊤</m:t>
                        </m:r>
                      </m:sup>
                    </m:sSup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Σ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lang="en-US" altLang="ko-KR" dirty="0"/>
              </a:p>
              <a:p>
                <a:r>
                  <a:rPr lang="en-US" altLang="ko-KR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constant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155AE99-3EF8-C3BB-1223-1F7B8B80201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9" t="-1701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6292481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C867FE-53C1-10AA-39DE-ED9838F29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DFA301F-8210-1710-7FDB-992E520A58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Various Loss Functions – Regression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FC39DBB-76C8-AB4E-5861-1449C35F62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32</a:t>
            </a:fld>
            <a:endParaRPr lang="ko-KR" altLang="en-US"/>
          </a:p>
        </p:txBody>
      </p:sp>
      <p:pic>
        <p:nvPicPr>
          <p:cNvPr id="5" name="Picture 2" descr="Curve Fitting using Linear and Nonlinear Regression - GeeksforGeeks">
            <a:extLst>
              <a:ext uri="{FF2B5EF4-FFF2-40B4-BE49-F238E27FC236}">
                <a16:creationId xmlns:a16="http://schemas.microsoft.com/office/drawing/2014/main" id="{EBF22017-C50D-9CD7-98D7-C6AF3D855C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73543" y="136525"/>
            <a:ext cx="4018457" cy="320209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1A157A2-A7ED-7708-568E-51DE040ADB7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constant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s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𝜎</m:t>
                            </m:r>
                          </m:e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Dataset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𝒟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Sup>
                      <m:sSub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bSup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argmin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−</m:t>
                        </m:r>
                        <m:func>
                          <m:func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𝑦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𝑖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e>
                    </m:nary>
                  </m:oMath>
                </a14:m>
                <a:endParaRPr lang="en-US" altLang="ko-KR" dirty="0"/>
              </a:p>
              <a:p>
                <a:r>
                  <a:rPr lang="en-US" altLang="ko-KR" dirty="0"/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ko-KR">
                        <a:latin typeface="Cambria Math" panose="02040503050406030204" pitchFamily="18" charset="0"/>
                      </a:rPr>
                      <m:t>Σ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</a:rPr>
                      <m:t>𝐼</m:t>
                    </m:r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∗</m:t>
                        </m:r>
                      </m:sup>
                    </m:sSup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argmin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Then, let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i="1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ko-KR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ko-KR" i="1">
                                    <a:solidFill>
                                      <a:srgbClr val="FF0000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ko-KR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>
                                        <a:solidFill>
                                          <a:srgbClr val="FF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ko-KR" i="1">
                                <a:solidFill>
                                  <a:srgbClr val="FF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nary>
                  </m:oMath>
                </a14:m>
                <a:r>
                  <a:rPr lang="en-US" altLang="ko-KR" dirty="0"/>
                  <a:t>               </a:t>
                </a:r>
                <a14:m>
                  <m:oMath xmlns:m="http://schemas.openxmlformats.org/officeDocument/2006/math"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⇐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en-US" altLang="ko-KR" dirty="0">
                    <a:solidFill>
                      <a:srgbClr val="FF0000"/>
                    </a:solidFill>
                  </a:rPr>
                  <a:t>MSE</a:t>
                </a:r>
                <a:r>
                  <a:rPr lang="en-US" altLang="ko-KR" dirty="0"/>
                  <a:t> loss (Mean Squared Error)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1A157A2-A7ED-7708-568E-51DE040ADB7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9" t="-22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2007036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BD3E15-97BE-27A5-9B98-185293476B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도표, 텍스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60FD4731-61E6-8348-56B8-C2E128C5AA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9116" y="1"/>
            <a:ext cx="4732884" cy="350901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3420E69E-B129-38A1-235D-B3E891C8F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Various Loss Functions – Classification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D87548D-7C0E-3F71-8D79-25B548E53C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33</a:t>
            </a:fld>
            <a:endParaRPr lang="ko-KR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6D51840-1331-6548-4D5C-58CAA41A7CE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Label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∈{1,2,…,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altLang="ko-KR" dirty="0"/>
                  <a:t>: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lang="ko-KR" altLang="en-US" dirty="0"/>
                  <a:t>개의 </a:t>
                </a:r>
                <a:r>
                  <a:rPr lang="en-US" altLang="ko-KR" dirty="0"/>
                  <a:t>class</a:t>
                </a:r>
              </a:p>
              <a:p>
                <a:r>
                  <a:rPr lang="en-US" altLang="ko-KR" dirty="0"/>
                  <a:t>One-hot vector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𝑡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0,1</m:t>
                            </m:r>
                          </m:e>
                        </m:d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endParaRPr lang="en-US" altLang="ko-KR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eqArr>
                          <m:eqArr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eqArr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1,  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&amp;0,  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≠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</m:eqArr>
                      </m:e>
                    </m:d>
                  </m:oMath>
                </a14:m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모델 </a:t>
                </a:r>
                <a:r>
                  <a:rPr lang="ko-KR" altLang="en-US" dirty="0" err="1"/>
                  <a:t>출력값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𝐾</m:t>
                        </m:r>
                      </m:sup>
                    </m:sSup>
                  </m:oMath>
                </a14:m>
                <a:endParaRPr lang="en-US" altLang="ko-KR" b="0" dirty="0"/>
              </a:p>
              <a:p>
                <a:r>
                  <a:rPr lang="en-US" altLang="ko-KR" b="0" dirty="0" err="1"/>
                  <a:t>Softmax</a:t>
                </a:r>
                <a:r>
                  <a:rPr lang="en-US" altLang="ko-KR" b="0" dirty="0"/>
                  <a:t>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unc>
                          <m:func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b>
                            </m:sSub>
                          </m:e>
                        </m:func>
                      </m:num>
                      <m:den>
                        <m:func>
                          <m:func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func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func>
                          <m:func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func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+…+</m:t>
                        </m:r>
                        <m:func>
                          <m:func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exp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𝐾</m:t>
                                </m:r>
                              </m:sub>
                            </m:sSub>
                          </m:e>
                        </m:func>
                      </m:den>
                    </m:f>
                  </m:oMath>
                </a14:m>
                <a:endParaRPr lang="en-US" altLang="ko-KR" b="0" dirty="0"/>
              </a:p>
              <a:p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−</m:t>
                    </m:r>
                    <m:func>
                      <m:func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=−</m:t>
                    </m:r>
                    <m:func>
                      <m:func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𝑝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</m:e>
                    </m:func>
                  </m:oMath>
                </a14:m>
                <a:r>
                  <a:rPr lang="en-US" altLang="ko-KR" dirty="0"/>
                  <a:t>                  </a:t>
                </a:r>
                <a14:m>
                  <m:oMath xmlns:m="http://schemas.openxmlformats.org/officeDocument/2006/math">
                    <m:r>
                      <a:rPr lang="en-US" altLang="ko-KR" i="1" dirty="0">
                        <a:latin typeface="Cambria Math" panose="02040503050406030204" pitchFamily="18" charset="0"/>
                      </a:rPr>
                      <m:t>⇐</m:t>
                    </m:r>
                  </m:oMath>
                </a14:m>
                <a:r>
                  <a:rPr lang="en-US" altLang="ko-KR" b="0" dirty="0"/>
                  <a:t> </a:t>
                </a:r>
                <a:r>
                  <a:rPr lang="en-US" altLang="ko-KR" b="0" dirty="0">
                    <a:solidFill>
                      <a:srgbClr val="FF0000"/>
                    </a:solidFill>
                  </a:rPr>
                  <a:t>Cross-entropy</a:t>
                </a:r>
                <a:r>
                  <a:rPr lang="en-US" altLang="ko-KR" b="0" dirty="0"/>
                  <a:t> loss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D6D51840-1331-6548-4D5C-58CAA41A7CE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699" t="-18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2058658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ED3DF68-2647-AEC4-B454-C6B60E9DB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Bias,</a:t>
            </a:r>
            <a:r>
              <a:rPr lang="ko-KR" altLang="en-US" dirty="0"/>
              <a:t> </a:t>
            </a:r>
            <a:r>
              <a:rPr lang="en-US" altLang="ko-KR" dirty="0"/>
              <a:t>Variance, and Regularization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26F339A-1C28-2319-9FFE-20EEF3A3FC5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Optimization</a:t>
                </a:r>
                <a:r>
                  <a:rPr lang="ko-KR" altLang="en-US" dirty="0"/>
                  <a:t>으로 </a:t>
                </a:r>
                <a:r>
                  <a:rPr lang="en-US" altLang="ko-KR" dirty="0"/>
                  <a:t>training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loss </a:t>
                </a:r>
                <a:r>
                  <a:rPr lang="ko-KR" altLang="en-US" dirty="0"/>
                  <a:t>최소화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≠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Test </a:t>
                </a:r>
                <a:r>
                  <a:rPr lang="ko-KR" altLang="en-US" dirty="0"/>
                  <a:t>성능이 좋음 </a:t>
                </a:r>
                <a:r>
                  <a:rPr lang="en-US" altLang="ko-KR" dirty="0"/>
                  <a:t>(Generalization)</a:t>
                </a:r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왜 </a:t>
                </a:r>
                <a:r>
                  <a:rPr lang="en-US" altLang="ko-KR" dirty="0"/>
                  <a:t>training set</a:t>
                </a:r>
                <a:r>
                  <a:rPr lang="ko-KR" altLang="en-US" dirty="0"/>
                  <a:t>에는 잘 맞는데</a:t>
                </a:r>
                <a:r>
                  <a:rPr lang="en-US" altLang="ko-KR" dirty="0"/>
                  <a:t>, test set</a:t>
                </a:r>
                <a:r>
                  <a:rPr lang="ko-KR" altLang="en-US" dirty="0"/>
                  <a:t>에는 잘 안 맞을까</a:t>
                </a:r>
                <a:r>
                  <a:rPr lang="en-US" altLang="ko-KR" dirty="0"/>
                  <a:t>?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26F339A-1C28-2319-9FFE-20EEF3A3FC5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9" t="-18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DE887F-007D-9F8A-AE47-801D7D126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34</a:t>
            </a:fld>
            <a:endParaRPr lang="ko-KR" altLang="en-US"/>
          </a:p>
        </p:txBody>
      </p:sp>
      <p:pic>
        <p:nvPicPr>
          <p:cNvPr id="15362" name="Picture 2" descr="Overfitting: Interpreting loss curves | Machine Learning | Google for  Developers">
            <a:extLst>
              <a:ext uri="{FF2B5EF4-FFF2-40B4-BE49-F238E27FC236}">
                <a16:creationId xmlns:a16="http://schemas.microsoft.com/office/drawing/2014/main" id="{F87BEF0A-B08A-3344-7F09-918AF399688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8339" y="1637414"/>
            <a:ext cx="6311338" cy="2898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2814387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C3167DA-E16B-BFF7-495A-1E80B9BEF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Empirical Risk vs. True Risk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FA093BB-CDDE-927B-76AF-73DAF705D1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2899" y="967154"/>
                <a:ext cx="11612881" cy="5380892"/>
              </a:xfrm>
            </p:spPr>
            <p:txBody>
              <a:bodyPr/>
              <a:lstStyle/>
              <a:p>
                <a:r>
                  <a:rPr lang="en-US" altLang="ko-KR" dirty="0"/>
                  <a:t>True risk: </a:t>
                </a:r>
                <a:r>
                  <a:rPr lang="ko-KR" altLang="en-US" dirty="0"/>
                  <a:t>실제 </a:t>
                </a:r>
                <a:r>
                  <a:rPr lang="en-US" altLang="ko-KR" dirty="0"/>
                  <a:t>data </a:t>
                </a:r>
                <a:r>
                  <a:rPr lang="ko-KR" altLang="en-US" dirty="0"/>
                  <a:t>분포에서의 </a:t>
                </a:r>
                <a:r>
                  <a:rPr lang="en-US" altLang="ko-KR" dirty="0"/>
                  <a:t>expected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loss. </a:t>
                </a:r>
                <a:r>
                  <a:rPr lang="ko-KR" altLang="en-US" dirty="0"/>
                  <a:t>실제 </a:t>
                </a:r>
                <a:r>
                  <a:rPr lang="en-US" altLang="ko-KR" dirty="0"/>
                  <a:t>data </a:t>
                </a:r>
                <a:r>
                  <a:rPr lang="ko-KR" altLang="en-US" dirty="0"/>
                  <a:t>분포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 dirty="0"/>
                  <a:t>서의 기대 오류</a:t>
                </a:r>
                <a:r>
                  <a:rPr lang="en-US" altLang="ko-KR" dirty="0"/>
                  <a:t>.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[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a:rPr lang="ko-KR" altLang="en-US" i="1">
                        <a:latin typeface="Cambria Math" panose="02040503050406030204" pitchFamily="18" charset="0"/>
                      </a:rPr>
                      <m:t>𝒟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endChr m:val="}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,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,…,(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endParaRPr lang="en-US" altLang="ko-KR" dirty="0"/>
              </a:p>
              <a:p>
                <a:r>
                  <a:rPr lang="en-US" altLang="ko-KR" dirty="0"/>
                  <a:t>Empirical risk: </a:t>
                </a:r>
                <a:r>
                  <a:rPr lang="ko-KR" altLang="en-US" dirty="0"/>
                  <a:t>우리가 가진 </a:t>
                </a:r>
                <a:r>
                  <a:rPr lang="en-US" altLang="ko-KR" dirty="0"/>
                  <a:t>dataset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𝒟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 dirty="0"/>
                  <a:t>서의 평균 </a:t>
                </a:r>
                <a:r>
                  <a:rPr lang="en-US" altLang="ko-KR" dirty="0"/>
                  <a:t>loss. Dataset</a:t>
                </a:r>
                <a:r>
                  <a:rPr lang="ko-KR" altLang="en-US" dirty="0"/>
                  <a:t>에서의 평균 오류</a:t>
                </a:r>
                <a:r>
                  <a:rPr lang="en-US" altLang="ko-KR" dirty="0"/>
                  <a:t>.</a:t>
                </a:r>
              </a:p>
              <a:p>
                <a14:m>
                  <m:oMath xmlns:m="http://schemas.openxmlformats.org/officeDocument/2006/math"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실제 줄이고 싶은 건 </a:t>
                </a:r>
                <a:r>
                  <a:rPr lang="en-US" altLang="ko-KR" dirty="0"/>
                  <a:t>true risk</a:t>
                </a:r>
                <a:r>
                  <a:rPr lang="ko-KR" altLang="en-US" dirty="0"/>
                  <a:t>이나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를</m:t>
                    </m:r>
                  </m:oMath>
                </a14:m>
                <a:r>
                  <a:rPr lang="ko-KR" altLang="en-US" dirty="0"/>
                  <a:t> 몰라 불가능하므로 </a:t>
                </a:r>
                <a:r>
                  <a:rPr lang="en-US" altLang="ko-KR" dirty="0"/>
                  <a:t>empirical risk</a:t>
                </a:r>
                <a:r>
                  <a:rPr lang="ko-KR" altLang="en-US" dirty="0"/>
                  <a:t>를 줄임으로써 근사함</a:t>
                </a:r>
                <a:r>
                  <a:rPr lang="en-US" altLang="ko-KR" dirty="0"/>
                  <a:t>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5FA093BB-CDDE-927B-76AF-73DAF705D1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2899" y="967154"/>
                <a:ext cx="11612881" cy="5380892"/>
              </a:xfrm>
              <a:blipFill>
                <a:blip r:embed="rId2"/>
                <a:stretch>
                  <a:fillRect l="-682" t="-1701" r="-78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7512FD6-6F30-64FC-89AE-5A7E42D09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35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60773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CA3068B-C126-FD91-62D2-05C89EAA3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Overfitting vs. Underfitting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4C9326-86A5-5501-B03F-276335529E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2899" y="967154"/>
            <a:ext cx="11430001" cy="5380892"/>
          </a:xfrm>
        </p:spPr>
        <p:txBody>
          <a:bodyPr/>
          <a:lstStyle/>
          <a:p>
            <a:r>
              <a:rPr lang="en-US" altLang="ko-KR" dirty="0"/>
              <a:t>Overfitting: Empirical risk low &amp; True risk high</a:t>
            </a:r>
          </a:p>
          <a:p>
            <a:r>
              <a:rPr lang="en-US" altLang="ko-KR" dirty="0"/>
              <a:t>Dataset</a:t>
            </a:r>
            <a:r>
              <a:rPr lang="ko-KR" altLang="en-US" dirty="0"/>
              <a:t>이 너무 작거나 모델의 </a:t>
            </a:r>
            <a:r>
              <a:rPr lang="en-US" altLang="ko-KR" dirty="0"/>
              <a:t>capacity(</a:t>
            </a:r>
            <a:r>
              <a:rPr lang="ko-KR" altLang="en-US" dirty="0"/>
              <a:t>파라미터 수</a:t>
            </a:r>
            <a:r>
              <a:rPr lang="en-US" altLang="ko-KR" dirty="0"/>
              <a:t>)</a:t>
            </a:r>
            <a:r>
              <a:rPr lang="ko-KR" altLang="en-US" dirty="0"/>
              <a:t>가 너무 클 때 발생</a:t>
            </a:r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Underfitting: Empirical risk</a:t>
            </a:r>
            <a:r>
              <a:rPr lang="ko-KR" altLang="en-US" dirty="0"/>
              <a:t>와 </a:t>
            </a:r>
            <a:r>
              <a:rPr lang="en-US" altLang="ko-KR" dirty="0"/>
              <a:t>true risk </a:t>
            </a:r>
            <a:r>
              <a:rPr lang="ko-KR" altLang="en-US" dirty="0"/>
              <a:t>모두 </a:t>
            </a:r>
            <a:r>
              <a:rPr lang="en-US" altLang="ko-KR" dirty="0"/>
              <a:t>high</a:t>
            </a:r>
          </a:p>
          <a:p>
            <a:r>
              <a:rPr lang="ko-KR" altLang="en-US" dirty="0"/>
              <a:t>모델의 </a:t>
            </a:r>
            <a:r>
              <a:rPr lang="en-US" altLang="ko-KR" dirty="0"/>
              <a:t>capacity</a:t>
            </a:r>
            <a:r>
              <a:rPr lang="ko-KR" altLang="en-US" dirty="0"/>
              <a:t>가 너무 작거나 </a:t>
            </a:r>
            <a:r>
              <a:rPr lang="en-US" altLang="ko-KR" dirty="0"/>
              <a:t>optimizer </a:t>
            </a:r>
            <a:r>
              <a:rPr lang="ko-KR" altLang="en-US" dirty="0"/>
              <a:t>설정</a:t>
            </a:r>
            <a:r>
              <a:rPr lang="en-US" altLang="ko-KR" dirty="0"/>
              <a:t>(learning rate </a:t>
            </a:r>
            <a:r>
              <a:rPr lang="ko-KR" altLang="en-US" dirty="0"/>
              <a:t>등</a:t>
            </a:r>
            <a:r>
              <a:rPr lang="en-US" altLang="ko-KR" dirty="0"/>
              <a:t>)</a:t>
            </a:r>
            <a:r>
              <a:rPr lang="ko-KR" altLang="en-US" dirty="0"/>
              <a:t>이 잘못되었을 때 발생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887CDD1-3707-4D8D-6182-979196B08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36</a:t>
            </a:fld>
            <a:endParaRPr lang="ko-KR" altLang="en-US"/>
          </a:p>
        </p:txBody>
      </p:sp>
      <p:pic>
        <p:nvPicPr>
          <p:cNvPr id="6" name="그림 5" descr="스크린샷, 도표, 라인, 디자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EFB010B1-A53B-0E2E-6151-8F83FEB90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36469" y="3148596"/>
            <a:ext cx="7519061" cy="37094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5535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1E7CBFC-6458-82A3-8340-9DA1E50E4A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Bias-Variance Decomposition: Regression Analysis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49A0711-DA1C-AB4C-2AA2-06DCBEAB653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MSE Loss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d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en-US" altLang="ko-KR" b="0" dirty="0"/>
                  <a:t> </a:t>
                </a:r>
                <a:r>
                  <a:rPr lang="ko-KR" altLang="en-US" b="0" dirty="0"/>
                  <a:t>대한 </a:t>
                </a:r>
                <a:r>
                  <a:rPr lang="ko-KR" altLang="en-US" dirty="0"/>
                  <a:t>이상적인 정답 함수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altLang="ko-KR" b="0" dirty="0"/>
                  <a:t>, </a:t>
                </a:r>
                <a:r>
                  <a:rPr lang="ko-KR" altLang="en-US" b="0" dirty="0"/>
                  <a:t>관측된 </a:t>
                </a:r>
                <a:r>
                  <a:rPr lang="en-US" altLang="ko-KR" b="0" dirty="0"/>
                  <a:t>label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𝜖</m:t>
                    </m:r>
                  </m:oMath>
                </a14:m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대한 모델 </a:t>
                </a:r>
                <a:r>
                  <a:rPr lang="ko-KR" altLang="en-US" dirty="0" err="1"/>
                  <a:t>예측값</a:t>
                </a:r>
                <a:r>
                  <a:rPr lang="ko-KR" altLang="en-US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Let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</m:acc>
                    <m:d>
                      <m:dPr>
                        <m:ctrlP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dirty="0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ko-KR" b="0" i="1" dirty="0" smtClean="0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lang="en-US" altLang="ko-KR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𝒟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𝒟</m:t>
                            </m:r>
                          </m:e>
                        </m:d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</m:oMath>
                </a14:m>
                <a:endParaRPr lang="en-US" altLang="ko-KR" dirty="0"/>
              </a:p>
              <a:p>
                <a:r>
                  <a:rPr lang="en-US" altLang="ko-KR" b="0" dirty="0"/>
                  <a:t>Error </a:t>
                </a:r>
                <a14:m>
                  <m:oMath xmlns:m="http://schemas.openxmlformats.org/officeDocument/2006/math"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𝒟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𝒟</m:t>
                            </m:r>
                          </m:e>
                        </m:d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𝒟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𝒟</m:t>
                            </m:r>
                          </m:e>
                        </m:d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(</m:t>
                                    </m:r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en-US" altLang="ko-KR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)+(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en-US" altLang="ko-KR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ko-KR" b="0" i="1" dirty="0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</m:d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𝔼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𝒟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~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𝑝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𝒟</m:t>
                            </m:r>
                          </m:e>
                        </m:d>
                      </m:sub>
                    </m:sSub>
                    <m:d>
                      <m:dPr>
                        <m:begChr m:val="["/>
                        <m:endChr m:val="]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begChr m:val="‖"/>
                                <m:endChr m:val="‖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sub>
                                </m:sSub>
                                <m:d>
                                  <m:dPr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acc>
                                  <m:accPr>
                                    <m:chr m:val="̅"/>
                                    <m:ctrlP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i="1">
                                        <a:latin typeface="Cambria Math" panose="02040503050406030204" pitchFamily="18" charset="0"/>
                                      </a:rPr>
                                      <m:t>𝑓</m:t>
                                    </m:r>
                                  </m:e>
                                </m:acc>
                                <m:d>
                                  <m:dPr>
                                    <m:ctrlPr>
                                      <a:rPr lang="en-US" altLang="ko-KR" i="1" dirty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ko-KR" i="1" dirty="0"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</m:d>
                              </m:e>
                            </m:d>
                          </m:e>
                          <m:sup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acc>
                              <m:accPr>
                                <m:chr m:val="̅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</m:acc>
                            <m:d>
                              <m:dPr>
                                <m:ctrlPr>
                                  <a:rPr lang="en-US" altLang="ko-KR" i="1" dirty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ko-KR" i="1" dirty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𝑓</m:t>
                            </m:r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ko-KR" i="1" dirty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Noise</m:t>
                    </m:r>
                  </m:oMath>
                </a14:m>
                <a:endParaRPr lang="en-US" altLang="ko-KR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49A0711-DA1C-AB4C-2AA2-06DCBEAB653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9" t="-22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D9FFA0F-12D7-9CFD-51D7-F8E2DE6F3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37</a:t>
            </a:fld>
            <a:endParaRPr lang="ko-KR" altLang="en-US"/>
          </a:p>
        </p:txBody>
      </p:sp>
      <p:sp>
        <p:nvSpPr>
          <p:cNvPr id="5" name="왼쪽 중괄호 4">
            <a:extLst>
              <a:ext uri="{FF2B5EF4-FFF2-40B4-BE49-F238E27FC236}">
                <a16:creationId xmlns:a16="http://schemas.microsoft.com/office/drawing/2014/main" id="{48B3BDEC-668B-4525-7032-6C63ADAB3203}"/>
              </a:ext>
            </a:extLst>
          </p:cNvPr>
          <p:cNvSpPr/>
          <p:nvPr/>
        </p:nvSpPr>
        <p:spPr>
          <a:xfrm rot="16200000">
            <a:off x="2020654" y="3472891"/>
            <a:ext cx="652609" cy="354321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D681F89-8131-44DA-322D-82FFC34D4AF5}"/>
              </a:ext>
            </a:extLst>
          </p:cNvPr>
          <p:cNvSpPr txBox="1"/>
          <p:nvPr/>
        </p:nvSpPr>
        <p:spPr>
          <a:xfrm>
            <a:off x="1501098" y="5671831"/>
            <a:ext cx="1943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Variance</a:t>
            </a:r>
            <a:endParaRPr lang="ko-KR" altLang="en-US" b="1" dirty="0"/>
          </a:p>
        </p:txBody>
      </p:sp>
      <p:sp>
        <p:nvSpPr>
          <p:cNvPr id="7" name="왼쪽 중괄호 6">
            <a:extLst>
              <a:ext uri="{FF2B5EF4-FFF2-40B4-BE49-F238E27FC236}">
                <a16:creationId xmlns:a16="http://schemas.microsoft.com/office/drawing/2014/main" id="{E2482B04-25AA-7D8E-30D5-41F06D1893BC}"/>
              </a:ext>
            </a:extLst>
          </p:cNvPr>
          <p:cNvSpPr/>
          <p:nvPr/>
        </p:nvSpPr>
        <p:spPr>
          <a:xfrm rot="16200000">
            <a:off x="5026787" y="4272950"/>
            <a:ext cx="652609" cy="194310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B08D1E-1E75-8102-4389-624412D22693}"/>
              </a:ext>
            </a:extLst>
          </p:cNvPr>
          <p:cNvSpPr txBox="1"/>
          <p:nvPr/>
        </p:nvSpPr>
        <p:spPr>
          <a:xfrm>
            <a:off x="4813160" y="5676227"/>
            <a:ext cx="19431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b="1" dirty="0"/>
              <a:t>Bias²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0837278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233984C-0D0F-73BE-E4F6-9CFA695179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Bias-Variance Tradeoff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96FAC48-1876-82BB-8A98-D6665F478DB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Variance </a:t>
                </a:r>
                <a:r>
                  <a:rPr lang="ko-KR" altLang="en-US" dirty="0"/>
                  <a:t>항</a:t>
                </a:r>
                <a:r>
                  <a:rPr lang="en-US" altLang="ko-KR" dirty="0"/>
                  <a:t>: Dataset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𝒟</m:t>
                    </m:r>
                  </m:oMath>
                </a14:m>
                <a:r>
                  <a:rPr lang="ko-KR" altLang="en-US" dirty="0"/>
                  <a:t>가 바뀔 때마다 예측이 얼마나 흔들리나</a:t>
                </a:r>
                <a:r>
                  <a:rPr lang="en-US" altLang="ko-KR" dirty="0"/>
                  <a:t>?</a:t>
                </a:r>
              </a:p>
              <a:p>
                <a:r>
                  <a:rPr lang="en-US" altLang="ko-KR" dirty="0"/>
                  <a:t>Dataset sampling</a:t>
                </a:r>
                <a:r>
                  <a:rPr lang="ko-KR" altLang="en-US" dirty="0"/>
                  <a:t>에 민감한 정도</a:t>
                </a:r>
                <a:r>
                  <a:rPr lang="en-US" altLang="ko-KR" dirty="0"/>
                  <a:t>.</a:t>
                </a:r>
              </a:p>
              <a:p>
                <a:endParaRPr lang="en-US" altLang="ko-KR" dirty="0"/>
              </a:p>
              <a:p>
                <a:r>
                  <a:rPr lang="en-US" altLang="ko-KR" dirty="0"/>
                  <a:t>Bias</a:t>
                </a:r>
                <a:r>
                  <a:rPr lang="ko-KR" altLang="ko-KR" dirty="0"/>
                  <a:t>²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항</a:t>
                </a:r>
                <a:r>
                  <a:rPr lang="en-US" altLang="ko-KR" dirty="0"/>
                  <a:t>: </a:t>
                </a:r>
                <a:r>
                  <a:rPr lang="ko-KR" altLang="en-US" dirty="0"/>
                  <a:t>평균 예측이 </a:t>
                </a:r>
                <a:r>
                  <a:rPr lang="en-US" altLang="ko-KR" dirty="0"/>
                  <a:t>ideal true function</a:t>
                </a:r>
                <a:r>
                  <a:rPr lang="ko-KR" altLang="en-US" dirty="0"/>
                  <a:t>에서 얼마나 벗어나 있나</a:t>
                </a:r>
                <a:r>
                  <a:rPr lang="en-US" altLang="ko-KR" dirty="0"/>
                  <a:t>?</a:t>
                </a:r>
              </a:p>
              <a:p>
                <a:r>
                  <a:rPr lang="ko-KR" altLang="en-US" dirty="0"/>
                  <a:t>모델이 충분한 표현력이 없어 생기는 성능 부족</a:t>
                </a:r>
                <a:r>
                  <a:rPr lang="en-US" altLang="ko-KR" dirty="0"/>
                  <a:t>.</a:t>
                </a:r>
              </a:p>
              <a:p>
                <a:endParaRPr lang="en-US" altLang="ko-KR" dirty="0"/>
              </a:p>
              <a:p>
                <a:r>
                  <a:rPr lang="en-US" altLang="ko-KR" dirty="0"/>
                  <a:t>If variance is too high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dirty="0"/>
                  <a:t> Overfitting</a:t>
                </a:r>
                <a:br>
                  <a:rPr lang="en-US" altLang="ko-KR" dirty="0"/>
                </a:br>
                <a:r>
                  <a:rPr lang="en-US" altLang="ko-KR" dirty="0"/>
                  <a:t>If bias is too high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dirty="0"/>
                  <a:t> Underfitting</a:t>
                </a:r>
              </a:p>
              <a:p>
                <a:endParaRPr lang="en-US" altLang="ko-KR" dirty="0"/>
              </a:p>
              <a:p>
                <a:r>
                  <a:rPr lang="en-US" altLang="ko-KR" dirty="0"/>
                  <a:t>How to regulate bias-variance tradeoff: Regularization</a:t>
                </a:r>
              </a:p>
              <a:p>
                <a:endParaRPr lang="en-US" altLang="ko-KR" dirty="0"/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B96FAC48-1876-82BB-8A98-D6665F478DB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9" t="-18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E402FD9-B6E7-B49C-CF03-5204FF8CF3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38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4104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391DBAA-33F0-205E-22C6-A181C39303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Regularization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A9ADEFD-CB60-88EE-CCF5-6EC08687EFA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ko-KR" altLang="en-US" dirty="0"/>
                  <a:t>모델의 </a:t>
                </a:r>
                <a:r>
                  <a:rPr lang="en-US" altLang="ko-KR" dirty="0"/>
                  <a:t>capacity</a:t>
                </a:r>
                <a:r>
                  <a:rPr lang="ko-KR" altLang="en-US" dirty="0"/>
                  <a:t>를 직접 줄이는 대신</a:t>
                </a:r>
                <a:r>
                  <a:rPr lang="en-US" altLang="ko-KR" dirty="0"/>
                  <a:t>, loss function</a:t>
                </a:r>
                <a:r>
                  <a:rPr lang="ko-KR" altLang="en-US" dirty="0"/>
                  <a:t>에 </a:t>
                </a:r>
                <a:r>
                  <a:rPr lang="en-US" altLang="ko-KR" dirty="0"/>
                  <a:t>penalty</a:t>
                </a:r>
                <a:r>
                  <a:rPr lang="ko-KR" altLang="en-US" dirty="0"/>
                  <a:t>를 주어 </a:t>
                </a:r>
                <a:r>
                  <a:rPr lang="en-US" altLang="ko-KR" dirty="0"/>
                  <a:t>Variance</a:t>
                </a:r>
                <a:r>
                  <a:rPr lang="ko-KR" altLang="en-US" dirty="0"/>
                  <a:t>를 감소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altLang="ko-KR" dirty="0"/>
                  <a:t> Overfitting </a:t>
                </a:r>
                <a:r>
                  <a:rPr lang="ko-KR" altLang="en-US" dirty="0"/>
                  <a:t>억제</a:t>
                </a:r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L1 regularization: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𝜆</m:t>
                    </m:r>
                    <m:d>
                      <m:dPr>
                        <m:begChr m:val="‖"/>
                        <m:endChr m:val="‖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altLang="ko-KR" b="0" dirty="0"/>
              </a:p>
              <a:p>
                <a:r>
                  <a:rPr lang="ko-KR" altLang="en-US" dirty="0"/>
                  <a:t>중요하지 않은 가중치를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으로 만듦</a:t>
                </a:r>
                <a:r>
                  <a:rPr lang="en-US" altLang="ko-KR" dirty="0"/>
                  <a:t>.</a:t>
                </a:r>
                <a:endParaRPr lang="en-US" altLang="ko-KR" b="0" dirty="0"/>
              </a:p>
              <a:p>
                <a:endParaRPr lang="en-US" altLang="ko-KR" dirty="0"/>
              </a:p>
              <a:p>
                <a:r>
                  <a:rPr lang="en-US" altLang="ko-KR" dirty="0"/>
                  <a:t>L2 regularization: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𝜆</m:t>
                    </m:r>
                    <m:sSup>
                      <m:sSup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</m:d>
                      </m:e>
                      <m:sup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ko-KR" dirty="0"/>
              </a:p>
              <a:p>
                <a:r>
                  <a:rPr lang="ko-KR" altLang="en-US" dirty="0"/>
                  <a:t>모든 가중치를 작게 유지</a:t>
                </a:r>
                <a:r>
                  <a:rPr lang="en-US" altLang="ko-KR" dirty="0"/>
                  <a:t>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A9ADEFD-CB60-88EE-CCF5-6EC08687EFA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9" t="-18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5167138-9C06-FDDD-EDEC-E92DFFA7C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39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063419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0AA221C-A4A5-76A0-83BB-23147DF129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Training</a:t>
            </a:r>
            <a:r>
              <a:rPr lang="ko-KR" altLang="en-US" dirty="0"/>
              <a:t> </a:t>
            </a:r>
            <a:r>
              <a:rPr lang="en-US" altLang="ko-KR" dirty="0"/>
              <a:t>vs.</a:t>
            </a:r>
            <a:r>
              <a:rPr lang="ko-KR" altLang="en-US" dirty="0"/>
              <a:t> </a:t>
            </a:r>
            <a:r>
              <a:rPr lang="en-US" altLang="ko-KR" dirty="0"/>
              <a:t>Validation</a:t>
            </a:r>
            <a:r>
              <a:rPr lang="ko-KR" altLang="en-US" dirty="0"/>
              <a:t> </a:t>
            </a:r>
            <a:r>
              <a:rPr lang="en-US" altLang="ko-KR" dirty="0"/>
              <a:t>vs.</a:t>
            </a:r>
            <a:r>
              <a:rPr lang="ko-KR" altLang="en-US" dirty="0"/>
              <a:t> </a:t>
            </a:r>
            <a:r>
              <a:rPr lang="en-US" altLang="ko-KR" dirty="0"/>
              <a:t>Test</a:t>
            </a:r>
            <a:r>
              <a:rPr lang="ko-KR" altLang="en-US" dirty="0"/>
              <a:t> </a:t>
            </a:r>
            <a:r>
              <a:rPr lang="en-US" altLang="ko-KR" dirty="0"/>
              <a:t>Sets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DADB143-5519-19D5-06BF-E58C0FF56D0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Split training set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Training / Validation sets</a:t>
                </a:r>
              </a:p>
              <a:p>
                <a:r>
                  <a:rPr lang="ko-KR" altLang="en-US" dirty="0"/>
                  <a:t>각 </a:t>
                </a:r>
                <a:r>
                  <a:rPr lang="en-US" altLang="ko-KR" dirty="0"/>
                  <a:t>hyperparameter (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등</a:t>
                </a:r>
                <a:r>
                  <a:rPr lang="en-US" altLang="ko-KR" dirty="0"/>
                  <a:t>) </a:t>
                </a:r>
                <a:r>
                  <a:rPr lang="ko-KR" altLang="en-US" dirty="0"/>
                  <a:t>들마다 </a:t>
                </a:r>
                <a:r>
                  <a:rPr lang="en-US" altLang="ko-KR" dirty="0"/>
                  <a:t>training set</a:t>
                </a:r>
                <a:r>
                  <a:rPr lang="ko-KR" altLang="en-US" dirty="0"/>
                  <a:t>에 대하여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𝜃</m:t>
                    </m:r>
                  </m:oMath>
                </a14:m>
                <a:r>
                  <a:rPr lang="ko-KR" altLang="en-US" dirty="0"/>
                  <a:t>를 훈련한 뒤 </a:t>
                </a:r>
                <a:r>
                  <a:rPr lang="en-US" altLang="ko-KR" dirty="0"/>
                  <a:t>validation set</a:t>
                </a:r>
                <a:r>
                  <a:rPr lang="ko-KR" altLang="en-US" dirty="0"/>
                  <a:t>으로 </a:t>
                </a:r>
                <a:r>
                  <a:rPr lang="en-US" altLang="ko-KR" dirty="0"/>
                  <a:t>error </a:t>
                </a:r>
                <a:r>
                  <a:rPr lang="ko-KR" altLang="en-US" dirty="0"/>
                  <a:t>계산</a:t>
                </a:r>
                <a:endParaRPr lang="en-US" altLang="ko-KR" dirty="0"/>
              </a:p>
              <a:p>
                <a:r>
                  <a:rPr lang="en-US" altLang="ko-KR" dirty="0"/>
                  <a:t>Best hyperparameters </a:t>
                </a:r>
                <a:r>
                  <a:rPr lang="ko-KR" altLang="en-US" dirty="0"/>
                  <a:t>선택 </a:t>
                </a:r>
                <a:r>
                  <a:rPr lang="en-US" altLang="ko-KR" dirty="0"/>
                  <a:t>(lowest validation error)</a:t>
                </a:r>
              </a:p>
              <a:p>
                <a:r>
                  <a:rPr lang="en-US" altLang="ko-KR" dirty="0"/>
                  <a:t>Test set</a:t>
                </a:r>
                <a:r>
                  <a:rPr lang="ko-KR" altLang="en-US" dirty="0"/>
                  <a:t>으로 최종 성능 계산</a:t>
                </a:r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Overfitting: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𝑣𝑎𝑙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)≫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𝑡𝑟𝑎𝑖𝑛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altLang="ko-KR" dirty="0"/>
              </a:p>
              <a:p>
                <a:r>
                  <a:rPr lang="en-US" altLang="ko-KR" dirty="0"/>
                  <a:t>Underfitting: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𝑡𝑟𝑎𝑖𝑛</m:t>
                        </m:r>
                      </m:sub>
                    </m:sSub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not low enough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6DADB143-5519-19D5-06BF-E58C0FF56D0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9" t="-1587" r="-538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570943E-A526-09D9-4039-68454C234B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40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862120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1CA722-3D9E-6B38-774B-A4A30EC3E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Quiz 2: Empirical Risk and Generalization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EA333DE-D294-88FF-639C-9C85F12968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altLang="ko-KR" dirty="0"/>
              <a:t>Why can we not compute</a:t>
            </a:r>
            <a:r>
              <a:rPr lang="ko-KR" altLang="en-US" dirty="0"/>
              <a:t> </a:t>
            </a:r>
            <a:r>
              <a:rPr lang="en-US" altLang="ko-KR" dirty="0"/>
              <a:t>the</a:t>
            </a:r>
            <a:r>
              <a:rPr lang="ko-KR" altLang="en-US" dirty="0"/>
              <a:t> </a:t>
            </a:r>
            <a:r>
              <a:rPr lang="en-US" altLang="ko-KR" dirty="0"/>
              <a:t>true risk directly?</a:t>
            </a:r>
          </a:p>
          <a:p>
            <a:pPr marL="457200" indent="-457200">
              <a:buAutoNum type="arabicPeriod"/>
            </a:pPr>
            <a:r>
              <a:rPr lang="en-US" altLang="ko-KR" dirty="0"/>
              <a:t>What quantity do we minimize in practice instead?</a:t>
            </a:r>
          </a:p>
          <a:p>
            <a:pPr marL="457200" indent="-457200">
              <a:buAutoNum type="arabicPeriod"/>
            </a:pPr>
            <a:r>
              <a:rPr lang="en-US" altLang="ko-KR" dirty="0"/>
              <a:t>Explain how model complexity affects bias and variance.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7CCDBDC-CFBA-CF55-D6E0-AA7795FBE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41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9174475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779E4-845B-672E-9AB3-71B960D043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354BF00-4030-A4A8-1628-1A3EA55BE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Quiz 2 – Solution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FF603F4-B1D0-3688-D612-BCA6218EDF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57200" indent="-457200">
              <a:buAutoNum type="arabicPeriod"/>
            </a:pPr>
            <a:r>
              <a:rPr lang="en-US" altLang="ko-KR" dirty="0"/>
              <a:t>True risk cannot be computed because the true data distribution is unknown.</a:t>
            </a:r>
          </a:p>
          <a:p>
            <a:pPr marL="457200" indent="-457200">
              <a:buAutoNum type="arabicPeriod"/>
            </a:pPr>
            <a:r>
              <a:rPr lang="en-US" altLang="ko-KR" dirty="0"/>
              <a:t>In practice, we minimize empirical risk, which is the average loss over the training dataset.</a:t>
            </a:r>
          </a:p>
          <a:p>
            <a:pPr marL="457200" indent="-457200">
              <a:buAutoNum type="arabicPeriod"/>
            </a:pPr>
            <a:r>
              <a:rPr lang="en-US" altLang="ko-KR" dirty="0"/>
              <a:t>Effect of model complexity:</a:t>
            </a:r>
          </a:p>
          <a:p>
            <a:pPr marL="914400" lvl="1" indent="-457200">
              <a:buAutoNum type="arabicPeriod"/>
            </a:pPr>
            <a:r>
              <a:rPr lang="en-US" altLang="ko-KR" dirty="0"/>
              <a:t>Simple models:</a:t>
            </a:r>
          </a:p>
          <a:p>
            <a:pPr marL="1371600" lvl="2" indent="-457200">
              <a:buAutoNum type="arabicPeriod"/>
            </a:pPr>
            <a:r>
              <a:rPr lang="en-US" altLang="ko-KR" dirty="0"/>
              <a:t>High bias</a:t>
            </a:r>
          </a:p>
          <a:p>
            <a:pPr marL="1371600" lvl="2" indent="-457200">
              <a:buAutoNum type="arabicPeriod"/>
            </a:pPr>
            <a:r>
              <a:rPr lang="en-US" altLang="ko-KR" dirty="0"/>
              <a:t>Low variance</a:t>
            </a:r>
          </a:p>
          <a:p>
            <a:pPr marL="914400" lvl="1" indent="-457200">
              <a:buAutoNum type="arabicPeriod"/>
            </a:pPr>
            <a:r>
              <a:rPr lang="en-US" altLang="ko-KR" dirty="0"/>
              <a:t>Complex models:</a:t>
            </a:r>
          </a:p>
          <a:p>
            <a:pPr marL="1371600" lvl="2" indent="-457200">
              <a:buAutoNum type="arabicPeriod"/>
            </a:pPr>
            <a:r>
              <a:rPr lang="en-US" altLang="ko-KR" dirty="0"/>
              <a:t>Low bias</a:t>
            </a:r>
          </a:p>
          <a:p>
            <a:pPr marL="1371600" lvl="2" indent="-457200">
              <a:buAutoNum type="arabicPeriod"/>
            </a:pPr>
            <a:r>
              <a:rPr lang="en-US" altLang="ko-KR" dirty="0"/>
              <a:t>High variance</a:t>
            </a:r>
          </a:p>
          <a:p>
            <a:pPr marL="457200" lvl="1" indent="0">
              <a:buNone/>
            </a:pPr>
            <a:r>
              <a:rPr lang="en-US" altLang="ko-KR" dirty="0"/>
              <a:t>Increasing model complexity reduces bias but increases variance.</a:t>
            </a:r>
          </a:p>
          <a:p>
            <a:pPr marL="457200" lvl="1" indent="0">
              <a:buNone/>
            </a:pPr>
            <a:r>
              <a:rPr lang="en-US" altLang="ko-KR" dirty="0"/>
              <a:t>Regularization is used to control this tradeoff and improve generalization.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7F198E1-5B4D-B51E-5EF0-749F6E6AD1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42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4405685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A9C060-A116-6DC2-3A69-5458327F5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Loss</a:t>
            </a:r>
            <a:r>
              <a:rPr lang="ko-KR" altLang="en-US" dirty="0"/>
              <a:t> </a:t>
            </a:r>
            <a:r>
              <a:rPr lang="en-US" altLang="ko-KR" dirty="0"/>
              <a:t>Landscape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C1E65D2-D477-1C6F-EDC4-CC3260030D8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ℒ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i="1" smtClean="0">
                        <a:latin typeface="Cambria Math" panose="02040503050406030204" pitchFamily="18" charset="0"/>
                      </a:rPr>
                      <m:t>)=−</m:t>
                    </m:r>
                    <m:nary>
                      <m:naryPr>
                        <m:chr m:val="∑"/>
                        <m:supHide m:val="on"/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7"/>
                          </m:rPr>
                          <a:rPr lang="en-US" altLang="ko-KR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/>
                      <m:e>
                        <m:func>
                          <m:func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nary>
                  </m:oMath>
                </a14:m>
                <a:r>
                  <a:rPr lang="en-US" altLang="ko-KR" dirty="0"/>
                  <a:t>: Scalar</a:t>
                </a:r>
              </a:p>
              <a:p>
                <a:endParaRPr lang="en-US" altLang="ko-KR" dirty="0"/>
              </a:p>
              <a:p>
                <a:r>
                  <a:rPr lang="en-US" altLang="ko-KR" dirty="0"/>
                  <a:t>Visualization</a:t>
                </a:r>
                <a:r>
                  <a:rPr lang="ko-KR" altLang="en-US" dirty="0"/>
                  <a:t>을 위해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lang="ko-KR" altLang="en-US" dirty="0"/>
                  <a:t>라 가정</a:t>
                </a:r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Goal: Find global(local) minima of </a:t>
                </a:r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ℒ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C1E65D2-D477-1C6F-EDC4-CC3260030D8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9" t="-1190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A5EDB30-CAA1-D9CD-7AF2-8489D23C37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43</a:t>
            </a:fld>
            <a:endParaRPr lang="ko-KR" altLang="en-US"/>
          </a:p>
        </p:txBody>
      </p:sp>
      <p:pic>
        <p:nvPicPr>
          <p:cNvPr id="9" name="그림 8" descr="새, 그림, 스케치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2EE7DDD-037E-DC3E-B4A4-52BE16BD55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73880"/>
            <a:ext cx="8201774" cy="2584120"/>
          </a:xfrm>
          <a:prstGeom prst="rect">
            <a:avLst/>
          </a:prstGeom>
        </p:spPr>
      </p:pic>
      <p:pic>
        <p:nvPicPr>
          <p:cNvPr id="8" name="그림 7" descr="종이접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91D01CCD-3184-E377-CE8E-C67F3F1055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3060" y="1"/>
            <a:ext cx="5248940" cy="465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96239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 descr="그림, 도표, 예술, 창의성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0CE77F0-AD32-2B0F-5DF4-10BB4F350A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813" y="3449274"/>
            <a:ext cx="4848446" cy="3272201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D682F72B-92FC-134A-BAD3-F4ACA0DBA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Gradient Descent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23C2923-C297-0CF7-7A4A-C8D9D209ED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44</a:t>
            </a:fld>
            <a:endParaRPr lang="ko-KR" altLang="en-US"/>
          </a:p>
        </p:txBody>
      </p:sp>
      <p:pic>
        <p:nvPicPr>
          <p:cNvPr id="13314" name="Picture 2" descr="The Gradient">
            <a:extLst>
              <a:ext uri="{FF2B5EF4-FFF2-40B4-BE49-F238E27FC236}">
                <a16:creationId xmlns:a16="http://schemas.microsoft.com/office/drawing/2014/main" id="{04623E7A-3DE6-938A-F2F8-2DA6CC6069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837" y="0"/>
            <a:ext cx="5387163" cy="53871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A48461E-7064-377F-1BF7-DF8168349C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342899" y="967153"/>
                <a:ext cx="11333285" cy="5754321"/>
              </a:xfrm>
            </p:spPr>
            <p:txBody>
              <a:bodyPr>
                <a:normAutofit/>
              </a:bodyPr>
              <a:lstStyle/>
              <a:p>
                <a:r>
                  <a:rPr lang="en-US" altLang="ko-KR" dirty="0"/>
                  <a:t>Gradient </a:t>
                </a:r>
                <a:r>
                  <a:rPr lang="ko-KR" altLang="en-US" dirty="0"/>
                  <a:t>방향</a:t>
                </a:r>
                <a:r>
                  <a:rPr lang="en-US" altLang="ko-KR" dirty="0"/>
                  <a:t>: Local maxima</a:t>
                </a:r>
                <a:r>
                  <a:rPr lang="ko-KR" altLang="en-US" dirty="0"/>
                  <a:t>를 향함</a:t>
                </a:r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Global(local) minima</a:t>
                </a:r>
                <a:r>
                  <a:rPr lang="ko-KR" altLang="en-US" dirty="0"/>
                  <a:t>를 찾기 위해서는</a:t>
                </a:r>
                <a:endParaRPr lang="en-US" altLang="ko-KR" dirty="0"/>
              </a:p>
              <a:p>
                <a:r>
                  <a:rPr lang="ko-KR" altLang="en-US" dirty="0"/>
                  <a:t>현재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에</m:t>
                    </m:r>
                  </m:oMath>
                </a14:m>
                <a:r>
                  <a:rPr lang="ko-KR" altLang="en-US" dirty="0"/>
                  <a:t>서 </a:t>
                </a:r>
                <a:r>
                  <a:rPr lang="en-US" altLang="ko-KR" dirty="0"/>
                  <a:t>gradient </a:t>
                </a:r>
                <a:r>
                  <a:rPr lang="ko-KR" altLang="en-US" dirty="0"/>
                  <a:t>반대 방향으로 이동해야 함</a:t>
                </a:r>
                <a:endParaRPr lang="en-US" altLang="ko-KR" dirty="0"/>
              </a:p>
              <a:p>
                <a:endParaRPr lang="en-US" altLang="ko-KR" dirty="0"/>
              </a:p>
              <a:p>
                <a:endParaRPr lang="en-US" altLang="ko-KR" dirty="0"/>
              </a:p>
              <a:p>
                <a:pPr marL="0" indent="0">
                  <a:buNone/>
                </a:pPr>
                <a:endParaRPr lang="en-US" altLang="ko-KR" dirty="0"/>
              </a:p>
              <a:p>
                <a:r>
                  <a:rPr lang="en-US" altLang="ko-KR" dirty="0"/>
                  <a:t>Optimization</a:t>
                </a:r>
              </a:p>
              <a:p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a:rPr lang="en-US" altLang="ko-KR" i="1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ko-KR" dirty="0">
                    <a:latin typeface="Cambria Math" panose="02040503050406030204" pitchFamily="18" charset="0"/>
                  </a:rPr>
                  <a:t>: </a:t>
                </a:r>
                <a:r>
                  <a:rPr lang="ko-KR" altLang="en-US" dirty="0">
                    <a:latin typeface="Cambria Math" panose="02040503050406030204" pitchFamily="18" charset="0"/>
                  </a:rPr>
                  <a:t>보폭 결정</a:t>
                </a:r>
                <a:endParaRPr lang="en-US" altLang="ko-KR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</m:oMath>
                </a14:m>
                <a:r>
                  <a:rPr lang="en-US" altLang="ko-KR" dirty="0"/>
                  <a:t>: </a:t>
                </a:r>
                <a:r>
                  <a:rPr lang="ko-KR" altLang="en-US" dirty="0"/>
                  <a:t>방향 결정</a:t>
                </a:r>
              </a:p>
              <a:p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2A48461E-7064-377F-1BF7-DF8168349C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42899" y="967153"/>
                <a:ext cx="11333285" cy="5754321"/>
              </a:xfrm>
              <a:blipFill>
                <a:blip r:embed="rId4"/>
                <a:stretch>
                  <a:fillRect l="-699" t="-1695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7414BDD-3D74-9A4F-5D49-98FF97849245}"/>
                  </a:ext>
                </a:extLst>
              </p:cNvPr>
              <p:cNvSpPr txBox="1"/>
              <p:nvPr/>
            </p:nvSpPr>
            <p:spPr>
              <a:xfrm>
                <a:off x="5530843" y="3897476"/>
                <a:ext cx="696295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altLang="ko-KR" sz="2800" b="1" i="1" smtClean="0">
                          <a:latin typeface="Cambria Math" panose="02040503050406030204" pitchFamily="18" charset="0"/>
                        </a:rPr>
                        <m:t>𝜽</m:t>
                      </m:r>
                    </m:oMath>
                  </m:oMathPara>
                </a14:m>
                <a:endParaRPr lang="ko-KR" altLang="en-US" sz="2800" b="1" dirty="0"/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7414BDD-3D74-9A4F-5D49-98FF978492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0843" y="3897476"/>
                <a:ext cx="696295" cy="52322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283290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761DDFE-071F-4200-B0AA-394476C2D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8A01983-891C-9E21-5F9C-0F4855054D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547815"/>
            <a:ext cx="5167185" cy="1680519"/>
          </a:xfrm>
        </p:spPr>
        <p:txBody>
          <a:bodyPr>
            <a:normAutofit/>
          </a:bodyPr>
          <a:lstStyle/>
          <a:p>
            <a:r>
              <a:rPr lang="en-US" altLang="ko-KR" sz="4000"/>
              <a:t>Gradient Descent</a:t>
            </a:r>
            <a:endParaRPr lang="ko-KR" altLang="en-US" sz="400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51D6BF3-FAF7-FD5D-D7F8-1FE050293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6619" y="547815"/>
            <a:ext cx="5178960" cy="1680519"/>
          </a:xfrm>
        </p:spPr>
        <p:txBody>
          <a:bodyPr anchor="ctr">
            <a:normAutofit/>
          </a:bodyPr>
          <a:lstStyle/>
          <a:p>
            <a:endParaRPr lang="ko-KR" altLang="en-US" sz="200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BAD6606-389A-2E5E-E696-D263551B65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90" y="2666000"/>
            <a:ext cx="5688385" cy="3754333"/>
          </a:xfrm>
          <a:prstGeom prst="rect">
            <a:avLst/>
          </a:prstGeom>
        </p:spPr>
      </p:pic>
      <p:pic>
        <p:nvPicPr>
          <p:cNvPr id="6" name="그림 5" descr="텍스트, 도표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79E4648-A763-AC67-2F02-F8BDDC5C71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3765" y="2602018"/>
            <a:ext cx="6309804" cy="3754332"/>
          </a:xfrm>
          <a:prstGeom prst="rect">
            <a:avLst/>
          </a:prstGeom>
        </p:spPr>
      </p:pic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ED23505-8D56-70FE-CE80-9EA5749A3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A9ABDE6-F26C-4589-9FF5-7FFDDB9572E4}" type="slidenum">
              <a:rPr lang="ko-KR" altLang="en-US" smtClean="0"/>
              <a:pPr>
                <a:spcAft>
                  <a:spcPts val="600"/>
                </a:spcAft>
              </a:pPr>
              <a:t>45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58361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996066-9E2C-E376-164E-6BEE1419FE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Stochastic Gradient Descent (SGD)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C9378B9-0384-8FF0-91C3-5F61AB71C09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Batch: </a:t>
                </a:r>
                <a:r>
                  <a:rPr lang="ko-KR" altLang="en-US" dirty="0"/>
                  <a:t>모델 파라미터 </a:t>
                </a:r>
                <a:r>
                  <a:rPr lang="en-US" altLang="ko-KR" dirty="0"/>
                  <a:t>update</a:t>
                </a:r>
                <a:r>
                  <a:rPr lang="ko-KR" altLang="en-US" dirty="0"/>
                  <a:t>를 위해 사용되는 </a:t>
                </a:r>
                <a:r>
                  <a:rPr lang="en-US" altLang="ko-KR" dirty="0"/>
                  <a:t>training data sample</a:t>
                </a:r>
                <a:r>
                  <a:rPr lang="ko-KR" altLang="en-US" dirty="0"/>
                  <a:t>의 묶음</a:t>
                </a:r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Batch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size:</a:t>
                </a:r>
                <a:r>
                  <a:rPr lang="ko-KR" altLang="en-US" dirty="0"/>
                  <a:t> 한 </a:t>
                </a:r>
                <a:r>
                  <a:rPr lang="en-US" altLang="ko-KR" dirty="0"/>
                  <a:t>iteration</a:t>
                </a:r>
                <a:r>
                  <a:rPr lang="ko-KR" altLang="en-US" dirty="0"/>
                  <a:t>당 모델에 전달되는 </a:t>
                </a:r>
                <a:r>
                  <a:rPr lang="en-US" altLang="ko-KR" dirty="0"/>
                  <a:t>data sample </a:t>
                </a:r>
                <a:r>
                  <a:rPr lang="ko-KR" altLang="en-US" dirty="0"/>
                  <a:t>수 </a:t>
                </a:r>
                <a:r>
                  <a:rPr lang="en-US" altLang="ko-KR" dirty="0"/>
                  <a:t>(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lang="en-US" altLang="ko-KR" dirty="0"/>
                  <a:t>)</a:t>
                </a:r>
              </a:p>
              <a:p>
                <a:r>
                  <a:rPr lang="en-US" altLang="ko-KR" dirty="0"/>
                  <a:t>Iteration: </a:t>
                </a:r>
                <a:r>
                  <a:rPr lang="ko-KR" altLang="en-US" dirty="0"/>
                  <a:t>한 </a:t>
                </a:r>
                <a:r>
                  <a:rPr lang="en-US" altLang="ko-KR" dirty="0"/>
                  <a:t>batch</a:t>
                </a:r>
                <a:r>
                  <a:rPr lang="ko-KR" altLang="en-US" dirty="0"/>
                  <a:t>를 사용해 파라미터를 </a:t>
                </a:r>
                <a:r>
                  <a:rPr lang="en-US" altLang="ko-KR" dirty="0"/>
                  <a:t>update</a:t>
                </a:r>
                <a:r>
                  <a:rPr lang="ko-KR" altLang="en-US" dirty="0"/>
                  <a:t>하는 과정</a:t>
                </a:r>
                <a:endParaRPr lang="en-US" altLang="ko-KR" dirty="0"/>
              </a:p>
              <a:p>
                <a:r>
                  <a:rPr lang="en-US" altLang="ko-KR" dirty="0"/>
                  <a:t>Epoch: </a:t>
                </a:r>
                <a:r>
                  <a:rPr lang="ko-KR" altLang="en-US" dirty="0"/>
                  <a:t>전체 </a:t>
                </a:r>
                <a:r>
                  <a:rPr lang="en-US" altLang="ko-KR" dirty="0"/>
                  <a:t>training dataset</a:t>
                </a:r>
                <a:r>
                  <a:rPr lang="ko-KR" altLang="en-US" dirty="0"/>
                  <a:t>이 모델을 통과하여 </a:t>
                </a:r>
                <a:r>
                  <a:rPr lang="en-US" altLang="ko-KR" dirty="0"/>
                  <a:t>update</a:t>
                </a:r>
                <a:r>
                  <a:rPr lang="ko-KR" altLang="en-US" dirty="0"/>
                  <a:t>된 상태</a:t>
                </a:r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전체 </a:t>
                </a:r>
                <a:r>
                  <a:rPr lang="en-US" altLang="ko-KR" dirty="0"/>
                  <a:t>data </a:t>
                </a:r>
                <a:r>
                  <a:rPr lang="ko-KR" altLang="en-US" dirty="0"/>
                  <a:t>수가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ko-KR" altLang="en-US" i="1">
                        <a:latin typeface="Cambria Math" panose="02040503050406030204" pitchFamily="18" charset="0"/>
                      </a:rPr>
                      <m:t>일</m:t>
                    </m:r>
                  </m:oMath>
                </a14:m>
                <a:r>
                  <a:rPr lang="ko-KR" altLang="en-US" dirty="0"/>
                  <a:t> 때</a:t>
                </a:r>
                <a:r>
                  <a:rPr lang="en-US" altLang="ko-KR" dirty="0"/>
                  <a:t>,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1 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epoch</m:t>
                    </m:r>
                    <m:r>
                      <a:rPr lang="en-US" altLang="ko-KR" b="0" i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𝑁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iteration</m:t>
                    </m:r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←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𝛼</m:t>
                    </m:r>
                    <m:r>
                      <m:rPr>
                        <m:sty m:val="p"/>
                      </m:rPr>
                      <a:rPr lang="en-US" altLang="ko-KR" b="0" i="0" smtClean="0">
                        <a:latin typeface="Cambria Math" panose="02040503050406030204" pitchFamily="18" charset="0"/>
                      </a:rPr>
                      <m:t>∇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𝜃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where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</m:d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sup>
                      <m:e>
                        <m:func>
                          <m:func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b="0" i="0" smtClean="0"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func>
                      </m:e>
                    </m:nary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:r>
                  <a:rPr lang="en-US" altLang="ko-KR" dirty="0"/>
                  <a:t>Full gradient descent</a:t>
                </a:r>
                <a:r>
                  <a:rPr lang="ko-KR" altLang="en-US" dirty="0"/>
                  <a:t>에 비해 </a:t>
                </a:r>
                <a:r>
                  <a:rPr lang="en-US" altLang="ko-KR" dirty="0"/>
                  <a:t>noisy</a:t>
                </a:r>
                <a:r>
                  <a:rPr lang="ko-KR" altLang="en-US" dirty="0"/>
                  <a:t>해 </a:t>
                </a:r>
                <a:r>
                  <a:rPr lang="en-US" altLang="ko-KR" dirty="0"/>
                  <a:t>local minima </a:t>
                </a:r>
                <a:r>
                  <a:rPr lang="ko-KR" altLang="en-US" dirty="0"/>
                  <a:t>탈출에 도움을 줌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C9378B9-0384-8FF0-91C3-5F61AB71C09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9" t="-1814" b="-34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F932ECE-584F-4197-9C09-FF841E532B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46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832480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7F98BC5C-F9E8-FEA1-D497-D39034B38458}"/>
                  </a:ext>
                </a:extLst>
              </p:cNvPr>
              <p:cNvSpPr>
                <a:spLocks noGrp="1"/>
              </p:cNvSpPr>
              <p:nvPr>
                <p:ph type="title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Learning Rate </a:t>
                </a:r>
                <a14:m>
                  <m:oMath xmlns:m="http://schemas.openxmlformats.org/officeDocument/2006/math">
                    <m:r>
                      <a:rPr lang="en-US" altLang="ko-KR" b="1" i="1" smtClean="0">
                        <a:latin typeface="Cambria Math" panose="02040503050406030204" pitchFamily="18" charset="0"/>
                      </a:rPr>
                      <m:t>𝜶</m:t>
                    </m:r>
                  </m:oMath>
                </a14:m>
                <a:endParaRPr lang="ko-KR" altLang="en-US" dirty="0"/>
              </a:p>
            </p:txBody>
          </p:sp>
        </mc:Choice>
        <mc:Fallback xmlns="">
          <p:sp>
            <p:nvSpPr>
              <p:cNvPr id="2" name="제목 1">
                <a:extLst>
                  <a:ext uri="{FF2B5EF4-FFF2-40B4-BE49-F238E27FC236}">
                    <a16:creationId xmlns:a16="http://schemas.microsoft.com/office/drawing/2014/main" id="{7F98BC5C-F9E8-FEA1-D497-D39034B3845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blipFill>
                <a:blip r:embed="rId2"/>
                <a:stretch>
                  <a:fillRect l="-1345" t="-21348" b="-3707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A06AAF-CD27-13E8-DE9D-0EBBAA7743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Too small: </a:t>
            </a:r>
            <a:r>
              <a:rPr lang="ko-KR" altLang="en-US" dirty="0"/>
              <a:t>학습 느림</a:t>
            </a:r>
            <a:r>
              <a:rPr lang="en-US" altLang="ko-KR" dirty="0"/>
              <a:t> &amp; local minima</a:t>
            </a:r>
            <a:r>
              <a:rPr lang="ko-KR" altLang="en-US" dirty="0"/>
              <a:t>에 갇힐 위험</a:t>
            </a:r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endParaRPr lang="en-US" altLang="ko-KR" dirty="0"/>
          </a:p>
          <a:p>
            <a:r>
              <a:rPr lang="en-US" altLang="ko-KR" dirty="0"/>
              <a:t>Too large: global minimum</a:t>
            </a:r>
            <a:r>
              <a:rPr lang="ko-KR" altLang="en-US" dirty="0"/>
              <a:t>을 지나쳐 발산하거나 진동</a:t>
            </a: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C2AD250-533F-CAB9-C69E-DA37E8941E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47</a:t>
            </a:fld>
            <a:endParaRPr lang="ko-KR" altLang="en-US"/>
          </a:p>
        </p:txBody>
      </p:sp>
      <p:pic>
        <p:nvPicPr>
          <p:cNvPr id="6" name="그림 5" descr="라인, 도표, 그래프, 폰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963B0C8-153E-C772-D9E9-5721A94446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16" y="1370930"/>
            <a:ext cx="6012575" cy="2239166"/>
          </a:xfrm>
          <a:prstGeom prst="rect">
            <a:avLst/>
          </a:prstGeom>
        </p:spPr>
      </p:pic>
      <p:pic>
        <p:nvPicPr>
          <p:cNvPr id="8" name="그림 7" descr="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B7479486-C9B7-2FA5-B3E0-679E1656F0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815" y="4270962"/>
            <a:ext cx="3620249" cy="2236037"/>
          </a:xfrm>
          <a:prstGeom prst="rect">
            <a:avLst/>
          </a:prstGeom>
        </p:spPr>
      </p:pic>
      <p:pic>
        <p:nvPicPr>
          <p:cNvPr id="10" name="그림 9" descr="라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0CDEA27-894E-B3BE-ADC0-01737A049EC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36064" y="4061625"/>
            <a:ext cx="2743200" cy="2654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4704728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785AA1A-0786-3ED9-3674-8740AB54BD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Learning Rate Scheduling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FEEA662-E249-6358-79F3-809850D80D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Step decay: </a:t>
                </a:r>
                <a:r>
                  <a:rPr lang="ko-KR" altLang="en-US" dirty="0"/>
                  <a:t>특정 </a:t>
                </a:r>
                <a:r>
                  <a:rPr lang="en-US" altLang="ko-KR" dirty="0"/>
                  <a:t>epoch</a:t>
                </a:r>
                <a:r>
                  <a:rPr lang="ko-KR" altLang="en-US" dirty="0"/>
                  <a:t>마다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dirty="0"/>
                  <a:t> 감소 </a:t>
                </a:r>
                <a:r>
                  <a:rPr lang="en-US" altLang="ko-KR" dirty="0"/>
                  <a:t>(</a:t>
                </a:r>
                <a:r>
                  <a:rPr lang="ko-KR" altLang="en-US" dirty="0"/>
                  <a:t>예</a:t>
                </a:r>
                <a:r>
                  <a:rPr lang="en-US" altLang="ko-KR" dirty="0"/>
                  <a:t>) 0.1</a:t>
                </a:r>
                <a:r>
                  <a:rPr lang="ko-KR" altLang="en-US" dirty="0"/>
                  <a:t>배</a:t>
                </a:r>
                <a:r>
                  <a:rPr lang="en-US" altLang="ko-KR" dirty="0"/>
                  <a:t>)</a:t>
                </a:r>
              </a:p>
              <a:p>
                <a:r>
                  <a:rPr lang="en-US" altLang="ko-KR" dirty="0"/>
                  <a:t>Exponential decay: </a:t>
                </a:r>
                <a:r>
                  <a:rPr lang="ko-KR" altLang="en-US" dirty="0"/>
                  <a:t>학습 초기부터 빠르고 부드럽게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en-US" altLang="ko-KR" dirty="0"/>
                  <a:t> </a:t>
                </a:r>
                <a:r>
                  <a:rPr lang="ko-KR" altLang="en-US" dirty="0"/>
                  <a:t>감소</a:t>
                </a:r>
                <a:endParaRPr lang="en-US" altLang="ko-KR" dirty="0"/>
              </a:p>
              <a:p>
                <a:r>
                  <a:rPr lang="en-US" altLang="ko-KR" dirty="0"/>
                  <a:t>Cosine annealing: </a:t>
                </a:r>
                <a:r>
                  <a:rPr lang="ko-KR" altLang="en-US" dirty="0"/>
                  <a:t>코사인 곡선을 따라 학습</a:t>
                </a:r>
                <a:r>
                  <a:rPr lang="en-US" altLang="ko-KR" dirty="0"/>
                  <a:t> </a:t>
                </a:r>
                <a:r>
                  <a:rPr lang="ko-KR" altLang="en-US" dirty="0"/>
                  <a:t>초기와 후기에는 점진적으로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중기에는 빠르게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𝛼</m:t>
                    </m:r>
                  </m:oMath>
                </a14:m>
                <a:r>
                  <a:rPr lang="ko-KR" altLang="en-US" dirty="0"/>
                  <a:t> 감소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AFEEA662-E249-6358-79F3-809850D80D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9" t="-1814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70E4F7E-7B1D-49E7-B212-2272394C6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48</a:t>
            </a:fld>
            <a:endParaRPr lang="ko-KR" altLang="en-US"/>
          </a:p>
        </p:txBody>
      </p:sp>
      <p:pic>
        <p:nvPicPr>
          <p:cNvPr id="6" name="그림 5" descr="텍스트, 라인, 그래프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3BCFA506-5E13-AB4C-8257-C102BC8A2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99167" y="2605111"/>
            <a:ext cx="7793665" cy="4252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918900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AA21F2C-BBD3-EEF9-10EB-E3DB337977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Various Optimizers</a:t>
            </a: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385DA5F-4DBC-7805-D21D-6697B58EC0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Momentum</a:t>
            </a:r>
          </a:p>
          <a:p>
            <a:r>
              <a:rPr lang="en-US" altLang="ko-KR" dirty="0" err="1"/>
              <a:t>AdaGrad</a:t>
            </a:r>
            <a:endParaRPr lang="en-US" altLang="ko-KR" dirty="0"/>
          </a:p>
          <a:p>
            <a:r>
              <a:rPr lang="en-US" altLang="ko-KR" dirty="0" err="1"/>
              <a:t>RMSProp</a:t>
            </a:r>
            <a:endParaRPr lang="en-US" altLang="ko-KR" dirty="0"/>
          </a:p>
          <a:p>
            <a:r>
              <a:rPr lang="en-US" altLang="ko-KR" dirty="0"/>
              <a:t>Adam</a:t>
            </a:r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B6A71BB-14F1-82F5-587A-40DC0759AA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49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5627156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FA8753-F6FD-8C25-1054-B3A2FF078B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Various Optimizers – Momentum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2F94067-FF85-73C3-A343-912CC22B4B0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𝜇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𝛼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가던 방향으로 계속 가려는 관성을 줌</a:t>
                </a:r>
                <a:endParaRPr lang="en-US" altLang="ko-KR" dirty="0"/>
              </a:p>
              <a:p>
                <a:r>
                  <a:rPr lang="en-US" altLang="ko-KR" dirty="0"/>
                  <a:t>Local minima</a:t>
                </a:r>
                <a:r>
                  <a:rPr lang="ko-KR" altLang="en-US" dirty="0"/>
                  <a:t>나 </a:t>
                </a:r>
                <a:r>
                  <a:rPr lang="en-US" altLang="ko-KR" dirty="0"/>
                  <a:t>Saddle point</a:t>
                </a:r>
                <a:r>
                  <a:rPr lang="ko-KR" altLang="en-US" dirty="0"/>
                  <a:t>에서 멈추지 않고 탈출함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12F94067-FF85-73C3-A343-912CC22B4B0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9" t="-12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6265008-DF0C-E2AD-E159-1D43C20E5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50</a:t>
            </a:fld>
            <a:endParaRPr lang="ko-KR" altLang="en-US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8A3C562-797E-106F-64F5-A105055201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39195" y="5217008"/>
            <a:ext cx="6687880" cy="1131038"/>
          </a:xfrm>
          <a:prstGeom prst="rect">
            <a:avLst/>
          </a:prstGeom>
        </p:spPr>
      </p:pic>
      <p:pic>
        <p:nvPicPr>
          <p:cNvPr id="8" name="그림 7" descr="라인, 종이접기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FD5CC15B-4D0B-C227-4B72-F16AFE04DD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5949" y="4924827"/>
            <a:ext cx="1962042" cy="114636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CBB60133-22A3-B57D-77FA-8AEEDEC80140}"/>
              </a:ext>
            </a:extLst>
          </p:cNvPr>
          <p:cNvSpPr txBox="1"/>
          <p:nvPr/>
        </p:nvSpPr>
        <p:spPr>
          <a:xfrm>
            <a:off x="1264939" y="4441195"/>
            <a:ext cx="23394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Gradient Descent</a:t>
            </a:r>
            <a:endParaRPr lang="ko-KR" altLang="en-US" sz="2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5B31CE9-86DB-7AED-6866-BC9A1D21ABC3}"/>
              </a:ext>
            </a:extLst>
          </p:cNvPr>
          <p:cNvSpPr txBox="1"/>
          <p:nvPr/>
        </p:nvSpPr>
        <p:spPr>
          <a:xfrm>
            <a:off x="6913386" y="4441195"/>
            <a:ext cx="233949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/>
              <a:t>Momentum</a:t>
            </a:r>
            <a:endParaRPr lang="ko-KR" altLang="en-US" sz="2000" dirty="0"/>
          </a:p>
        </p:txBody>
      </p:sp>
    </p:spTree>
    <p:extLst>
      <p:ext uri="{BB962C8B-B14F-4D97-AF65-F5344CB8AC3E}">
        <p14:creationId xmlns:p14="http://schemas.microsoft.com/office/powerpoint/2010/main" val="144109641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E0D20-6EF8-5025-710F-18B24D5D1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08428E-1AF1-58CB-93D2-0915512CF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Various Optimizers – </a:t>
            </a:r>
            <a:r>
              <a:rPr lang="en-US" altLang="ko-KR" dirty="0" err="1"/>
              <a:t>AdaGrad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6B60091-AFA7-48A6-8EC6-2F349685C4F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0" smtClean="0">
                                    <a:latin typeface="Cambria Math" panose="02040503050406030204" pitchFamily="18" charset="0"/>
                                  </a:rPr>
                                  <m:t>∇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ℒ</m:t>
                            </m:r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ko-KR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ℒ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</m:rad>
                      </m:den>
                    </m:f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각 파라미터별로 </a:t>
                </a:r>
                <a:r>
                  <a:rPr lang="ko-KR" altLang="en-US" dirty="0" err="1"/>
                  <a:t>학습률</a:t>
                </a:r>
                <a:r>
                  <a:rPr lang="ko-KR" altLang="en-US" dirty="0"/>
                  <a:t> 다르게 설정 </a:t>
                </a:r>
                <a14:m>
                  <m:oMath xmlns:m="http://schemas.openxmlformats.org/officeDocument/2006/math"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ko-KR" altLang="en-US" dirty="0"/>
                  <a:t> 자주 변하는 파라미터는 조심스럽게</a:t>
                </a:r>
                <a:r>
                  <a:rPr lang="en-US" altLang="ko-KR" dirty="0"/>
                  <a:t>, </a:t>
                </a:r>
                <a:r>
                  <a:rPr lang="ko-KR" altLang="en-US" dirty="0"/>
                  <a:t>드물게 변하는 파라미터는 과감하게 </a:t>
                </a:r>
                <a:r>
                  <a:rPr lang="en-US" altLang="ko-KR" dirty="0"/>
                  <a:t>update</a:t>
                </a:r>
              </a:p>
              <a:p>
                <a:r>
                  <a:rPr lang="en-US" altLang="ko-KR" dirty="0"/>
                  <a:t>Limitation: </a:t>
                </a:r>
                <a:r>
                  <a:rPr lang="ko-KR" altLang="en-US" dirty="0"/>
                  <a:t>학습이 진행될수록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dirty="0"/>
                  <a:t>가 계속 커져서 </a:t>
                </a:r>
                <a:r>
                  <a:rPr lang="ko-KR" altLang="en-US" dirty="0" err="1"/>
                  <a:t>학습률이</a:t>
                </a:r>
                <a:r>
                  <a:rPr lang="ko-KR" altLang="en-US" dirty="0"/>
                  <a:t> </a:t>
                </a:r>
                <a:r>
                  <a:rPr lang="en-US" altLang="ko-KR" dirty="0"/>
                  <a:t>0</a:t>
                </a:r>
                <a:r>
                  <a:rPr lang="ko-KR" altLang="en-US" dirty="0"/>
                  <a:t>에 수렴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46B60091-AFA7-48A6-8EC6-2F349685C4F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8E5BBD6-EEF6-E177-3063-EAE90FA11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51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7358987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5206ED-953F-2FD6-E211-8CA516E92D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641AF1-2621-C276-FBB2-39817539BC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Various Optimizers – </a:t>
            </a:r>
            <a:r>
              <a:rPr lang="en-US" altLang="ko-KR" dirty="0" err="1"/>
              <a:t>RMSProp</a:t>
            </a:r>
            <a:endParaRPr lang="ko-KR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02DD07A-02FF-FFAB-FB10-CF90641A3FD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(1−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𝜌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0" smtClean="0">
                                    <a:latin typeface="Cambria Math" panose="02040503050406030204" pitchFamily="18" charset="0"/>
                                  </a:rPr>
                                  <m:t>∇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ℒ</m:t>
                            </m:r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ko-KR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i="1">
                        <a:latin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altLang="ko-KR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m:rPr>
                                <m:sty m:val="p"/>
                              </m:rPr>
                              <a:rPr lang="en-US" altLang="ko-KR">
                                <a:latin typeface="Cambria Math" panose="02040503050406030204" pitchFamily="18" charset="0"/>
                              </a:rPr>
                              <m:t>∇</m:t>
                            </m:r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𝜃</m:t>
                            </m:r>
                          </m:sub>
                        </m:sSub>
                        <m:r>
                          <a:rPr lang="en-US" altLang="ko-KR" i="1">
                            <a:latin typeface="Cambria Math" panose="02040503050406030204" pitchFamily="18" charset="0"/>
                          </a:rPr>
                          <m:t>ℒ</m:t>
                        </m:r>
                        <m:d>
                          <m:d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d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𝜖</m:t>
                            </m:r>
                          </m:e>
                        </m:rad>
                      </m:den>
                    </m:f>
                  </m:oMath>
                </a14:m>
                <a:endParaRPr lang="en-US" altLang="ko-KR" dirty="0"/>
              </a:p>
              <a:p>
                <a:endParaRPr lang="en-US" altLang="ko-KR" dirty="0"/>
              </a:p>
              <a:p>
                <a:r>
                  <a:rPr lang="ko-KR" altLang="en-US" dirty="0"/>
                  <a:t>최근 기울기에 큰 가중치를 두어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ko-KR" altLang="en-US" dirty="0"/>
                  <a:t> </a:t>
                </a:r>
                <a:r>
                  <a:rPr lang="en-US" altLang="ko-KR" dirty="0"/>
                  <a:t>update</a:t>
                </a:r>
              </a:p>
              <a:p>
                <a:r>
                  <a:rPr lang="en-US" altLang="ko-KR" dirty="0" err="1"/>
                  <a:t>AdaGrad</a:t>
                </a:r>
                <a:r>
                  <a:rPr lang="ko-KR" altLang="en-US" dirty="0"/>
                  <a:t>의 </a:t>
                </a:r>
                <a:r>
                  <a:rPr lang="ko-KR" altLang="en-US" dirty="0" err="1"/>
                  <a:t>학습률</a:t>
                </a:r>
                <a:r>
                  <a:rPr lang="ko-KR" altLang="en-US" dirty="0"/>
                  <a:t> 소멸 문제 해결</a:t>
                </a:r>
              </a:p>
            </p:txBody>
          </p:sp>
        </mc:Choice>
        <mc:Fallback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C02DD07A-02FF-FFAB-FB10-CF90641A3FD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9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17EB137-7C4A-ABB5-467A-389FBA85BB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52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393083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77F2EF-4D14-A0B7-09E6-40EF045B0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A03AFD3-2CE8-3899-9607-C2338358F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Various Optimizers – Adam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58A24D6-9153-47C4-E3A3-78C8CDF53CF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lang="en-US" altLang="ko-KR" b="0" i="0" smtClean="0">
                            <a:latin typeface="Cambria Math" panose="02040503050406030204" pitchFamily="18" charset="0"/>
                          </a:rPr>
                          <m:t>∇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ℒ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𝜃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endParaRPr lang="en-US" altLang="ko-KR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𝛽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𝑣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sSup>
                      <m:sSup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b="0" i="0" smtClean="0">
                                    <a:latin typeface="Cambria Math" panose="02040503050406030204" pitchFamily="18" charset="0"/>
                                  </a:rPr>
                                  <m:t>∇</m:t>
                                </m:r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𝜃</m:t>
                                </m:r>
                              </m:sub>
                            </m:s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ℒ</m:t>
                            </m:r>
                            <m:d>
                              <m:d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𝜃</m:t>
                                    </m:r>
                                  </m:e>
                                  <m:sub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d>
                          </m:e>
                        </m:d>
                      </m:e>
                      <m:sup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lang="en-US" altLang="ko-KR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</m:acc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𝑚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</m:den>
                    </m:f>
                  </m:oMath>
                </a14:m>
                <a:endParaRPr lang="en-US" altLang="ko-KR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</m:acc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sSubSup>
                          <m:sSubSupPr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𝛽</m:t>
                            </m:r>
                          </m:e>
                          <m:sub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p>
                        </m:sSubSup>
                      </m:den>
                    </m:f>
                  </m:oMath>
                </a14:m>
                <a:endParaRPr lang="en-US" altLang="ko-KR" b="0" dirty="0"/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+1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𝜃</m:t>
                        </m:r>
                      </m:e>
                      <m:sub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ko-KR" b="0" i="1" smtClean="0">
                        <a:latin typeface="Cambria Math" panose="02040503050406030204" pitchFamily="18" charset="0"/>
                      </a:rPr>
                      <m:t>𝛼</m:t>
                    </m:r>
                    <m:f>
                      <m:fPr>
                        <m:ctrlPr>
                          <a:rPr lang="en-US" altLang="ko-KR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altLang="ko-KR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en-US" altLang="ko-KR" i="1">
                                    <a:latin typeface="Cambria Math" panose="02040503050406030204" pitchFamily="18" charset="0"/>
                                  </a:rPr>
                                  <m:t>𝑚</m:t>
                                </m:r>
                              </m:e>
                            </m:acc>
                          </m:e>
                          <m:sub>
                            <m:r>
                              <a:rPr lang="en-US" altLang="ko-KR" i="1">
                                <a:latin typeface="Cambria Math" panose="02040503050406030204" pitchFamily="18" charset="0"/>
                              </a:rPr>
                              <m:t>𝑡</m:t>
                            </m:r>
                          </m:sub>
                        </m:sSub>
                      </m:num>
                      <m:den>
                        <m:rad>
                          <m:radPr>
                            <m:degHide m:val="on"/>
                            <m:ctrlPr>
                              <a:rPr lang="en-US" altLang="ko-KR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b>
                              <m:sSubPr>
                                <m:ctrlP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acc>
                                  <m:accPr>
                                    <m:chr m:val="̂"/>
                                    <m:ctrlP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accPr>
                                  <m:e>
                                    <m:r>
                                      <a:rPr lang="en-US" altLang="ko-KR" b="0" i="1" smtClean="0">
                                        <a:latin typeface="Cambria Math" panose="02040503050406030204" pitchFamily="18" charset="0"/>
                                      </a:rPr>
                                      <m:t>𝑣</m:t>
                                    </m:r>
                                  </m:e>
                                </m:acc>
                              </m:e>
                              <m:sub>
                                <m:r>
                                  <a:rPr lang="en-US" altLang="ko-KR" b="0" i="1" smtClean="0"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sub>
                            </m:sSub>
                          </m:e>
                        </m:rad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ko-KR" b="0" i="1" smtClean="0">
                            <a:latin typeface="Cambria Math" panose="02040503050406030204" pitchFamily="18" charset="0"/>
                          </a:rPr>
                          <m:t>𝜖</m:t>
                        </m:r>
                      </m:den>
                    </m:f>
                  </m:oMath>
                </a14:m>
                <a:endParaRPr lang="en-US" altLang="ko-KR" b="0" dirty="0"/>
              </a:p>
              <a:p>
                <a:endParaRPr lang="en-US" altLang="ko-KR" dirty="0"/>
              </a:p>
              <a:p>
                <a:r>
                  <a:rPr lang="en-US" altLang="ko-KR" dirty="0"/>
                  <a:t>Momentum</a:t>
                </a:r>
                <a:r>
                  <a:rPr lang="ko-KR" altLang="en-US" dirty="0"/>
                  <a:t>과 </a:t>
                </a:r>
                <a:r>
                  <a:rPr lang="en-US" altLang="ko-KR" dirty="0" err="1"/>
                  <a:t>RMSProp</a:t>
                </a:r>
                <a:r>
                  <a:rPr lang="ko-KR" altLang="en-US" dirty="0"/>
                  <a:t>의 장점을 합침</a:t>
                </a:r>
                <a:endParaRPr lang="en-US" altLang="ko-KR" dirty="0"/>
              </a:p>
              <a:p>
                <a:r>
                  <a:rPr lang="en-US" altLang="ko-KR" dirty="0"/>
                  <a:t>Deep learning</a:t>
                </a:r>
                <a:r>
                  <a:rPr lang="ko-KR" altLang="en-US" dirty="0"/>
                  <a:t>에서 가장 범용적으로 쓰임</a:t>
                </a:r>
              </a:p>
            </p:txBody>
          </p:sp>
        </mc:Choice>
        <mc:Fallback xmlns="">
          <p:sp>
            <p:nvSpPr>
              <p:cNvPr id="3" name="내용 개체 틀 2">
                <a:extLst>
                  <a:ext uri="{FF2B5EF4-FFF2-40B4-BE49-F238E27FC236}">
                    <a16:creationId xmlns:a16="http://schemas.microsoft.com/office/drawing/2014/main" id="{F58A24D6-9153-47C4-E3A3-78C8CDF53CF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99" t="-1247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98A17DD-4F2D-C57E-C414-D3A882C97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9ABDE6-F26C-4589-9FF5-7FFDDB9572E4}" type="slidenum">
              <a:rPr lang="ko-KR" altLang="en-US" smtClean="0"/>
              <a:t>53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573653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A56BEBA-3976-3EAC-535D-9E4775626E8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ko-KR" dirty="0"/>
              <a:t>Thank you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851FAE6-9F45-A55D-1780-C82E068067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380809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8938</TotalTime>
  <Words>2605</Words>
  <Application>Microsoft Office PowerPoint</Application>
  <PresentationFormat>와이드스크린</PresentationFormat>
  <Paragraphs>477</Paragraphs>
  <Slides>54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54</vt:i4>
      </vt:variant>
    </vt:vector>
  </HeadingPairs>
  <TitlesOfParts>
    <vt:vector size="59" baseType="lpstr">
      <vt:lpstr>맑은 고딕</vt:lpstr>
      <vt:lpstr>Arial</vt:lpstr>
      <vt:lpstr>Calibri</vt:lpstr>
      <vt:lpstr>Cambria Math</vt:lpstr>
      <vt:lpstr>Office 테마</vt:lpstr>
      <vt:lpstr> ML basics &amp; Optimization</vt:lpstr>
      <vt:lpstr>What is Learning?</vt:lpstr>
      <vt:lpstr>Different Types of Learning Problems</vt:lpstr>
      <vt:lpstr>Supervised Learning (지도 학습)</vt:lpstr>
      <vt:lpstr>Supervised Learning (지도 학습)</vt:lpstr>
      <vt:lpstr>Supervised Learning (지도 학습) – Regression (회귀)</vt:lpstr>
      <vt:lpstr>Supervised Learning (지도 학습) – Regression (회귀)</vt:lpstr>
      <vt:lpstr>Supervised Learning (지도 학습) – Classification (분류)</vt:lpstr>
      <vt:lpstr>Unsupervised Learning (비지도 학습)</vt:lpstr>
      <vt:lpstr>Unsupervised Learning (비지도 학습) – Clustering (군집화)</vt:lpstr>
      <vt:lpstr>Unsupervised Learning (비지도 학습) – Dimensionality Reduction (차원 축소)</vt:lpstr>
      <vt:lpstr>Unsupervised Learning (비지도 학습) – Dimensionality Reduction (차원 축소)</vt:lpstr>
      <vt:lpstr>Reinforcement Learning (강화 학습)</vt:lpstr>
      <vt:lpstr>Reinforcement Learning (강화 학습)</vt:lpstr>
      <vt:lpstr>Supervised Learning</vt:lpstr>
      <vt:lpstr>Loss Function</vt:lpstr>
      <vt:lpstr>Prediction of Model</vt:lpstr>
      <vt:lpstr>Predict Exact Labels</vt:lpstr>
      <vt:lpstr>Predict Exact Labels</vt:lpstr>
      <vt:lpstr>Predict Probabilities</vt:lpstr>
      <vt:lpstr>Softmax</vt:lpstr>
      <vt:lpstr>Softmax</vt:lpstr>
      <vt:lpstr>ML Method</vt:lpstr>
      <vt:lpstr>How is a Dataset Generated?: Probabilistic Perspective</vt:lpstr>
      <vt:lpstr>Modeling Data Distribution</vt:lpstr>
      <vt:lpstr>Maximum Likelihood Estimation (MLE)</vt:lpstr>
      <vt:lpstr>Negative Log-Likelihood (NLL)</vt:lpstr>
      <vt:lpstr>Define Loss Function: Use NLL</vt:lpstr>
      <vt:lpstr>Quiz 1: Likelihood and Learning Objective</vt:lpstr>
      <vt:lpstr>Quiz 1 – Solution</vt:lpstr>
      <vt:lpstr>Various Loss Functions – Regression</vt:lpstr>
      <vt:lpstr>Various Loss Functions – Regression</vt:lpstr>
      <vt:lpstr>Various Loss Functions – Classification</vt:lpstr>
      <vt:lpstr>Bias, Variance, and Regularization</vt:lpstr>
      <vt:lpstr>Empirical Risk vs. True Risk</vt:lpstr>
      <vt:lpstr>Overfitting vs. Underfitting</vt:lpstr>
      <vt:lpstr>Bias-Variance Decomposition: Regression Analysis</vt:lpstr>
      <vt:lpstr>Bias-Variance Tradeoff</vt:lpstr>
      <vt:lpstr>Regularization</vt:lpstr>
      <vt:lpstr>Training vs. Validation vs. Test Sets</vt:lpstr>
      <vt:lpstr>Quiz 2: Empirical Risk and Generalization</vt:lpstr>
      <vt:lpstr>Quiz 2 – Solution</vt:lpstr>
      <vt:lpstr>Loss Landscape</vt:lpstr>
      <vt:lpstr>Gradient Descent</vt:lpstr>
      <vt:lpstr>Gradient Descent</vt:lpstr>
      <vt:lpstr>Stochastic Gradient Descent (SGD)</vt:lpstr>
      <vt:lpstr>Learning Rate α</vt:lpstr>
      <vt:lpstr>Learning Rate Scheduling</vt:lpstr>
      <vt:lpstr>Various Optimizers</vt:lpstr>
      <vt:lpstr>Various Optimizers – Momentum</vt:lpstr>
      <vt:lpstr>Various Optimizers – AdaGrad</vt:lpstr>
      <vt:lpstr>Various Optimizers – RMSProp</vt:lpstr>
      <vt:lpstr>Various Optimizers – Adam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Jong Bum Won</dc:creator>
  <cp:lastModifiedBy>심현성</cp:lastModifiedBy>
  <cp:revision>709</cp:revision>
  <dcterms:created xsi:type="dcterms:W3CDTF">2025-12-30T11:13:34Z</dcterms:created>
  <dcterms:modified xsi:type="dcterms:W3CDTF">2026-03-19T19:55:12Z</dcterms:modified>
</cp:coreProperties>
</file>